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77" r:id="rId4"/>
    <p:sldId id="275" r:id="rId5"/>
    <p:sldId id="276"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1" autoAdjust="0"/>
    <p:restoredTop sz="94610"/>
  </p:normalViewPr>
  <p:slideViewPr>
    <p:cSldViewPr snapToGrid="0" snapToObjects="1">
      <p:cViewPr varScale="1">
        <p:scale>
          <a:sx n="92" d="100"/>
          <a:sy n="92" d="100"/>
        </p:scale>
        <p:origin x="106" y="3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0108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and team. Say that Review 1 defined the problem, and Review 2 shows the working implementation and the results we measured.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loop in your own words. Key sentence: the response to the problem is what makes the problem worse. Mention Twitter's 2013 outage as a real example if asked.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problem itself is not new. Bronson's group at Meta named this failure class in 2021, and the OSDI 2022 follow-up showed retries are the sustaining cause in more than half of real incidents, so the mechanism we are attacking is the one that actually bites in production.</a:t>
            </a:r>
          </a:p>
          <a:p>
            <a:endParaRPr/>
          </a:p>
          <a:p>
            <a:r>
              <a:t>The important column is the right one. Every one of these either explains the failure after it happened, or analyses it offline before deployment. The HotOS 2025 paper says in its own words that online prediction is still open.</a:t>
            </a:r>
          </a:p>
          <a:p>
            <a:endParaRPr/>
          </a:p>
          <a:p>
            <a:r>
              <a:t>Seer is the closest on method because it does predict ahead, but it predicts QoS violations from queue depths and never looks at retries, and its response is to give the container more resources.</a:t>
            </a:r>
          </a:p>
          <a:p>
            <a:endParaRPr/>
          </a:p>
          <a:p>
            <a:r>
              <a:t>Google's retry budget is the standard production answer. It works, but the 10 percent cap is a fixed number applied everywhere, and it only reacts once retries are already high.</a:t>
            </a:r>
          </a:p>
          <a:p>
            <a:endParaRPr/>
          </a:p>
          <a:p>
            <a:r>
              <a:t>The arXiv paper from last month is the closest to us in subject. It defines a Retry Amplification Factor, which is essentially the same quantity as our rho. We are not claiming to have invented that metric. What they do not do is predict ahead or define when the system is actually in livelock.</a:t>
            </a:r>
          </a:p>
          <a:p>
            <a:endParaRPr/>
          </a:p>
          <a:p>
            <a:r>
              <a:t>The Alibaba row explains why we built our own testbed. We checked the largest public microservice trace and it has no attempt number per call, so retry amplification simply cannot be computed from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Reading down the last column, three of these six rows are things no other row in the table does at all.</a:t>
            </a:r>
          </a:p>
          <a:p>
            <a:endParaRPr/>
          </a:p>
          <a:p>
            <a:r>
              <a:t>The second row is the one to stress. An overloaded system and a livelocked system look identical on a latency graph. Both are slow, both are busy. The difference is whether retries are still climbing while the success rate is flat, and that is our fourth condition. Without it you cannot tell a system that is about to recover on its own from one that never will.</a:t>
            </a:r>
          </a:p>
          <a:p>
            <a:endParaRPr/>
          </a:p>
          <a:p>
            <a:r>
              <a:t>The last row matters for whether you believe the model at all. We trained the same model on randomly shuffled labels. If it had still scored well, that would have meant the task was trivially predictable and the model had learned nothing real. It collapsed to near zero, which is the result we wanted.</a:t>
            </a:r>
          </a:p>
          <a:p>
            <a:endParaRPr/>
          </a:p>
          <a:p>
            <a:r>
              <a:t>If she asks whether ours is better than Seer or better than Google's retry budget, the honest answer is that they solve different problems. Seer predicts latency violations and scales containers. Google caps retries at a fixed ratio after the fact. Neither one predicts livelock and neither one adapts the budget per edge. That is the gap we fill.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worker slots are the most important design decision. Without a capacity limit, retries would be free and there would be no feedback loop to study. Be ready to explain the 9 calls: gateway retries order 3 times, and each of those causes 3 payment attempts.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modules 1 to 4 were the minimum needed to measure anything at all, so they were built first. 5 to 7 build on top of that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All seven run, but module 6 uses logistic regression instead of the temporal graph neural network, because the environment has no PyTorch. The limitations slide covers this.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two logs: you cannot demonstrate livelock with only one of them. You need to show work going up while useful output goes down.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 4 is the important one. Any overloaded system satisfies conditions 1 to 3. Condition 4 says the retries are holding up while success refuses to improve, which is the self-feeding signature.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this slide. Read the 'calls made' column against the 'success during fault' column. That gap is the livelock. Then explain why we cannot simply switch retries off.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test is the strongest point here. If the model were cheating, training on random labels would still score well. It does not, so the result is real. Expect a question about the low precision and answer with the cost asymmetry.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analyze_run table out loud: success falls from 100 percent to 0.5 percent while the system keeps making over 700 calls. That contrast is the livelock, in one 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CSV has a separate column for each of the four conditions, so you can point at exactly why any window was labelled. Note the zero false alarms during healthy traffic.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controller log, trace the budget going 3 to 2 to 1 as rho crosses 1.0, and back to 3 once it drops. That is the closed loop working.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invite the leakage question on. The control test trains the identical model on randomised labels and scores zero, well under the 0.09 chance level.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Raising the limitations yourself is better than being caught out on them. The self-sustaining storm point is a real finding: we tested four configurations and the system recovered each time, because a healthy service answers the first attempt so amplification collapses immediately.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main finding. It connects the Operating Systems concept to a practical engineering result, which is what the project set out to do.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this left to right, then point at the arrow that comes back.</a:t>
            </a:r>
          </a:p>
          <a:p/>
          <a:p>
            <a:r>
              <a:t>Stage 1 is the testbed: four services, each with a bounded number of worker slots, which is what makes a retry cost something rather than being free.</a:t>
            </a:r>
          </a:p>
          <a:p/>
          <a:p>
            <a:r>
              <a:t>Stage 2 is the part that is unusual. We log every call attempt, not every request. Without the attempt number there is no way to compute retry amplification at all, which is also why no public trace could have been used for this.</a:t>
            </a:r>
          </a:p>
          <a:p/>
          <a:p>
            <a:r>
              <a:t>Stage 3 turns that log into a graph that changes over time. Every measurement is per call edge, never per service, because a service can be healthy for one caller and drowning for another.</a:t>
            </a:r>
          </a:p>
          <a:p/>
          <a:p>
            <a:r>
              <a:t>Stage 4 applies the four conditions, and predicts about ten seconds ahead rather than only reporting the present.</a:t>
            </a:r>
          </a:p>
          <a:p/>
          <a:p>
            <a:r>
              <a:t>Stage 5 is what makes this a control system instead of a dashboard. It reduces the retry budget on the specific edge that is amplifying.</a:t>
            </a:r>
          </a:p>
          <a:p/>
          <a:p>
            <a:r>
              <a:t>The arrow along the bottom is the important one. The controller's output changes the retry policy that Stage 1 applies, so the next round of telemetry is measuring a system the controller has already modified. That is the closed loop, and it is why the diagram is a cycle and not a pipeline.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645920"/>
            <a:ext cx="10515600" cy="1463040"/>
          </a:xfrm>
          <a:prstGeom prst="rect">
            <a:avLst/>
          </a:prstGeom>
          <a:noFill/>
          <a:ln/>
        </p:spPr>
        <p:txBody>
          <a:bodyPr wrap="square" lIns="0" tIns="0" rIns="0" bIns="0" rtlCol="0" anchor="ctr"/>
          <a:lstStyle/>
          <a:p>
            <a:pPr marL="0" indent="0" algn="ctr">
              <a:buNone/>
            </a:pPr>
            <a:r>
              <a:rPr lang="en-US" sz="3000" b="1" dirty="0">
                <a:solidFill>
                  <a:srgbClr val="1F4E79"/>
                </a:solidFill>
                <a:latin typeface="Calibri" pitchFamily="34" charset="0"/>
                <a:ea typeface="Calibri" pitchFamily="34" charset="-122"/>
                <a:cs typeface="Calibri" pitchFamily="34" charset="-120"/>
              </a:rPr>
              <a:t>Predicting and Pre-empting Retry-Storm-Induced Livelock in Microservice Architectures</a:t>
            </a:r>
            <a:endParaRPr lang="en-US" sz="3000" dirty="0"/>
          </a:p>
        </p:txBody>
      </p:sp>
      <p:sp>
        <p:nvSpPr>
          <p:cNvPr id="3" name="Text 1"/>
          <p:cNvSpPr txBox="1"/>
          <p:nvPr/>
        </p:nvSpPr>
        <p:spPr>
          <a:xfrm>
            <a:off x="822960" y="3108960"/>
            <a:ext cx="10515600" cy="457200"/>
          </a:xfrm>
          <a:prstGeom prst="rect">
            <a:avLst/>
          </a:prstGeom>
          <a:noFill/>
          <a:ln/>
        </p:spPr>
        <p:txBody>
          <a:bodyPr wrap="square" lIns="0" tIns="0" rIns="0" bIns="0" rtlCol="0" anchor="ctr"/>
          <a:lstStyle/>
          <a:p>
            <a:pPr marL="0" indent="0" algn="ctr">
              <a:buNone/>
            </a:pPr>
            <a:r>
              <a:rPr lang="en-US" sz="1900" dirty="0">
                <a:solidFill>
                  <a:srgbClr val="595959"/>
                </a:solidFill>
                <a:latin typeface="Calibri" pitchFamily="34" charset="0"/>
                <a:ea typeface="Calibri" pitchFamily="34" charset="-122"/>
                <a:cs typeface="Calibri" pitchFamily="34" charset="-120"/>
              </a:rPr>
              <a:t>Review 2</a:t>
            </a:r>
            <a:endParaRPr lang="en-US" sz="1900" dirty="0"/>
          </a:p>
        </p:txBody>
      </p:sp>
      <p:sp>
        <p:nvSpPr>
          <p:cNvPr id="4" name="Text 2"/>
          <p:cNvSpPr txBox="1"/>
          <p:nvPr/>
        </p:nvSpPr>
        <p:spPr>
          <a:xfrm>
            <a:off x="822960" y="3931920"/>
            <a:ext cx="10515600" cy="1645920"/>
          </a:xfrm>
          <a:prstGeom prst="rect">
            <a:avLst/>
          </a:prstGeom>
          <a:noFill/>
          <a:ln/>
        </p:spPr>
        <p:txBody>
          <a:bodyPr wrap="square" lIns="0" tIns="0" rIns="0" bIns="0" rtlCol="0" anchor="ctr"/>
          <a:lstStyle/>
          <a:p>
            <a:pPr marL="0" indent="0" algn="ctr">
              <a:buNone/>
            </a:pPr>
            <a:r>
              <a:rPr lang="en-US" sz="1600" dirty="0">
                <a:solidFill>
                  <a:srgbClr val="000000"/>
                </a:solidFill>
                <a:latin typeface="Calibri" pitchFamily="34" charset="0"/>
                <a:ea typeface="Calibri" pitchFamily="34" charset="-122"/>
                <a:cs typeface="Calibri" pitchFamily="34" charset="-120"/>
              </a:rPr>
              <a:t>BCSE303L - Operating Systems</a:t>
            </a:r>
            <a:endParaRPr lang="en-US" sz="1600" dirty="0"/>
          </a:p>
          <a:p>
            <a:pPr marL="0" indent="0" algn="ctr">
              <a:buNone/>
            </a:pPr>
            <a:r>
              <a:rPr lang="en-US" sz="1600" dirty="0">
                <a:solidFill>
                  <a:srgbClr val="000000"/>
                </a:solidFill>
                <a:latin typeface="Calibri" pitchFamily="34" charset="0"/>
                <a:ea typeface="Calibri" pitchFamily="34" charset="-122"/>
                <a:cs typeface="Calibri" pitchFamily="34" charset="-120"/>
              </a:rPr>
              <a:t>Vellore Institute of Technology, Vellore</a:t>
            </a:r>
            <a:endParaRPr lang="en-US" sz="1600" dirty="0"/>
          </a:p>
          <a:p>
            <a:pPr marL="0" indent="0" algn="ctr">
              <a:buNone/>
            </a:pPr>
            <a:r>
              <a:rPr lang="en-US" sz="1000" dirty="0">
                <a:solidFill>
                  <a:srgbClr val="000000"/>
                </a:solidFill>
                <a:latin typeface="Calibri" pitchFamily="34" charset="0"/>
                <a:ea typeface="Calibri" pitchFamily="34" charset="-122"/>
                <a:cs typeface="Calibri" pitchFamily="34" charset="-120"/>
              </a:rPr>
              <a:t> </a:t>
            </a:r>
            <a:endParaRPr lang="en-US" sz="1600" dirty="0"/>
          </a:p>
          <a:p>
            <a:pPr marL="0" indent="0" algn="ctr">
              <a:buNone/>
            </a:pPr>
            <a:r>
              <a:rPr lang="en-US" sz="1600" dirty="0">
                <a:solidFill>
                  <a:srgbClr val="000000"/>
                </a:solidFill>
                <a:latin typeface="Calibri" pitchFamily="34" charset="0"/>
                <a:ea typeface="Calibri" pitchFamily="34" charset="-122"/>
                <a:cs typeface="Calibri" pitchFamily="34" charset="-120"/>
              </a:rPr>
              <a:t>Varun G A (24BCE0479)</a:t>
            </a:r>
            <a:endParaRPr lang="en-US" sz="1600" dirty="0"/>
          </a:p>
          <a:p>
            <a:pPr marL="0" indent="0" algn="ctr">
              <a:buNone/>
            </a:pPr>
            <a:r>
              <a:rPr lang="en-US" sz="1600" dirty="0">
                <a:solidFill>
                  <a:srgbClr val="000000"/>
                </a:solidFill>
                <a:latin typeface="Calibri" pitchFamily="34" charset="0"/>
                <a:ea typeface="Calibri" pitchFamily="34" charset="-122"/>
                <a:cs typeface="Calibri" pitchFamily="34" charset="-120"/>
              </a:rPr>
              <a:t>Satwik Som (24BCE2822)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The Problem</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2</a:t>
            </a:r>
            <a:endParaRPr lang="en-US" sz="1100" dirty="0"/>
          </a:p>
        </p:txBody>
      </p:sp>
      <p:sp>
        <p:nvSpPr>
          <p:cNvPr id="4" name="Text 2"/>
          <p:cNvSpPr txBox="1"/>
          <p:nvPr/>
        </p:nvSpPr>
        <p:spPr>
          <a:xfrm>
            <a:off x="548640" y="1234440"/>
            <a:ext cx="11091672"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00000"/>
                </a:solidFill>
                <a:latin typeface="Calibri" pitchFamily="34" charset="0"/>
                <a:ea typeface="Calibri" pitchFamily="34" charset="-122"/>
                <a:cs typeface="Calibri" pitchFamily="34" charset="-120"/>
              </a:rPr>
              <a:t>When a microservice becomes slow, every service calling it starts retrying.</a:t>
            </a:r>
            <a:endParaRPr lang="en-US" sz="1700" dirty="0"/>
          </a:p>
          <a:p>
            <a:pPr marL="342900" indent="-342900">
              <a:spcAft>
                <a:spcPts val="800"/>
              </a:spcAft>
              <a:buSzPct val="100000"/>
              <a:buChar char="•"/>
            </a:pPr>
            <a:r>
              <a:rPr lang="en-US" sz="1700" dirty="0">
                <a:solidFill>
                  <a:srgbClr val="000000"/>
                </a:solidFill>
                <a:latin typeface="Calibri" pitchFamily="34" charset="0"/>
                <a:ea typeface="Calibri" pitchFamily="34" charset="-122"/>
                <a:cs typeface="Calibri" pitchFamily="34" charset="-120"/>
              </a:rPr>
              <a:t>Those retries are extra load on a service that is already struggling.</a:t>
            </a:r>
            <a:endParaRPr lang="en-US" sz="1700" dirty="0"/>
          </a:p>
          <a:p>
            <a:pPr marL="342900" indent="-342900">
              <a:spcAft>
                <a:spcPts val="800"/>
              </a:spcAft>
              <a:buSzPct val="100000"/>
              <a:buChar char="•"/>
            </a:pPr>
            <a:r>
              <a:rPr lang="en-US" sz="1700" dirty="0">
                <a:solidFill>
                  <a:srgbClr val="000000"/>
                </a:solidFill>
                <a:latin typeface="Calibri" pitchFamily="34" charset="0"/>
                <a:ea typeface="Calibri" pitchFamily="34" charset="-122"/>
                <a:cs typeface="Calibri" pitchFamily="34" charset="-120"/>
              </a:rPr>
              <a:t>More requests fail, so more retries are sent. The loop feeds itself.</a:t>
            </a:r>
            <a:endParaRPr lang="en-US" sz="1700" dirty="0"/>
          </a:p>
          <a:p>
            <a:pPr marL="342900" indent="-342900">
              <a:spcAft>
                <a:spcPts val="800"/>
              </a:spcAft>
              <a:buSzPct val="100000"/>
              <a:buChar char="•"/>
            </a:pPr>
            <a:r>
              <a:rPr lang="en-US" sz="1700" dirty="0">
                <a:solidFill>
                  <a:srgbClr val="000000"/>
                </a:solidFill>
                <a:latin typeface="Calibri" pitchFamily="34" charset="0"/>
                <a:ea typeface="Calibri" pitchFamily="34" charset="-122"/>
                <a:cs typeface="Calibri" pitchFamily="34" charset="-120"/>
              </a:rPr>
              <a:t>The system stays fully busy but stops completing useful work.</a:t>
            </a:r>
            <a:endParaRPr lang="en-US" sz="1700" dirty="0"/>
          </a:p>
          <a:p>
            <a:pPr marL="342900" indent="-342900">
              <a:spcAft>
                <a:spcPts val="800"/>
              </a:spcAft>
              <a:buSzPct val="100000"/>
              <a:buChar char="•"/>
            </a:pPr>
            <a:r>
              <a:rPr lang="en-US" sz="1700" dirty="0">
                <a:solidFill>
                  <a:srgbClr val="000000"/>
                </a:solidFill>
                <a:latin typeface="Calibri" pitchFamily="34" charset="0"/>
                <a:ea typeface="Calibri" pitchFamily="34" charset="-122"/>
                <a:cs typeface="Calibri" pitchFamily="34" charset="-120"/>
              </a:rPr>
              <a:t>This is livelock: nothing is blocked, everything is running, no progress is made.</a:t>
            </a:r>
            <a:endParaRPr lang="en-US" sz="1700" dirty="0"/>
          </a:p>
        </p:txBody>
      </p:sp>
      <p:sp>
        <p:nvSpPr>
          <p:cNvPr id="5" name="Shape 3"/>
          <p:cNvSpPr/>
          <p:nvPr/>
        </p:nvSpPr>
        <p:spPr>
          <a:xfrm>
            <a:off x="640080" y="3566160"/>
            <a:ext cx="2286000" cy="685800"/>
          </a:xfrm>
          <a:prstGeom prst="rect">
            <a:avLst/>
          </a:prstGeom>
          <a:solidFill>
            <a:srgbClr val="DEEAF6"/>
          </a:solidFill>
          <a:ln w="12700">
            <a:solidFill>
              <a:srgbClr val="2E74B5"/>
            </a:solidFill>
            <a:prstDash val="solid"/>
          </a:ln>
        </p:spPr>
        <p:txBody>
          <a:bodyPr/>
          <a:lstStyle/>
          <a:p>
            <a:endParaRPr/>
          </a:p>
        </p:txBody>
      </p:sp>
      <p:sp>
        <p:nvSpPr>
          <p:cNvPr id="6" name="Text 4"/>
          <p:cNvSpPr txBox="1"/>
          <p:nvPr/>
        </p:nvSpPr>
        <p:spPr>
          <a:xfrm>
            <a:off x="640080" y="3566160"/>
            <a:ext cx="2286000" cy="685800"/>
          </a:xfrm>
          <a:prstGeom prst="rect">
            <a:avLst/>
          </a:prstGeom>
          <a:noFill/>
          <a:ln/>
        </p:spPr>
        <p:txBody>
          <a:bodyPr wrap="square" lIns="25400" tIns="25400" rIns="25400" bIns="25400"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Service</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becomes slow</a:t>
            </a:r>
            <a:endParaRPr lang="en-US" sz="1300" dirty="0"/>
          </a:p>
        </p:txBody>
      </p:sp>
      <p:sp>
        <p:nvSpPr>
          <p:cNvPr id="7" name="Shape 5"/>
          <p:cNvSpPr/>
          <p:nvPr/>
        </p:nvSpPr>
        <p:spPr>
          <a:xfrm>
            <a:off x="2971800" y="3909060"/>
            <a:ext cx="502920" cy="0"/>
          </a:xfrm>
          <a:prstGeom prst="line">
            <a:avLst/>
          </a:prstGeom>
          <a:noFill/>
          <a:ln w="19050">
            <a:solidFill>
              <a:srgbClr val="595959"/>
            </a:solidFill>
            <a:prstDash val="solid"/>
            <a:tailEnd type="triangle"/>
          </a:ln>
        </p:spPr>
        <p:txBody>
          <a:bodyPr/>
          <a:lstStyle/>
          <a:p>
            <a:endParaRPr/>
          </a:p>
        </p:txBody>
      </p:sp>
      <p:sp>
        <p:nvSpPr>
          <p:cNvPr id="8" name="Shape 6"/>
          <p:cNvSpPr/>
          <p:nvPr/>
        </p:nvSpPr>
        <p:spPr>
          <a:xfrm>
            <a:off x="3520440" y="3566160"/>
            <a:ext cx="2286000" cy="685800"/>
          </a:xfrm>
          <a:prstGeom prst="rect">
            <a:avLst/>
          </a:prstGeom>
          <a:solidFill>
            <a:srgbClr val="DEEAF6"/>
          </a:solidFill>
          <a:ln w="12700">
            <a:solidFill>
              <a:srgbClr val="2E74B5"/>
            </a:solidFill>
            <a:prstDash val="solid"/>
          </a:ln>
        </p:spPr>
        <p:txBody>
          <a:bodyPr/>
          <a:lstStyle/>
          <a:p>
            <a:endParaRPr/>
          </a:p>
        </p:txBody>
      </p:sp>
      <p:sp>
        <p:nvSpPr>
          <p:cNvPr id="9" name="Text 7"/>
          <p:cNvSpPr txBox="1"/>
          <p:nvPr/>
        </p:nvSpPr>
        <p:spPr>
          <a:xfrm>
            <a:off x="3520440" y="3566160"/>
            <a:ext cx="2286000" cy="685800"/>
          </a:xfrm>
          <a:prstGeom prst="rect">
            <a:avLst/>
          </a:prstGeom>
          <a:noFill/>
          <a:ln/>
        </p:spPr>
        <p:txBody>
          <a:bodyPr wrap="square" lIns="25400" tIns="25400" rIns="25400" bIns="25400"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Callers</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time out</a:t>
            </a:r>
            <a:endParaRPr lang="en-US" sz="1300" dirty="0"/>
          </a:p>
        </p:txBody>
      </p:sp>
      <p:sp>
        <p:nvSpPr>
          <p:cNvPr id="10" name="Shape 8"/>
          <p:cNvSpPr/>
          <p:nvPr/>
        </p:nvSpPr>
        <p:spPr>
          <a:xfrm>
            <a:off x="5852160" y="3909060"/>
            <a:ext cx="502920" cy="0"/>
          </a:xfrm>
          <a:prstGeom prst="line">
            <a:avLst/>
          </a:prstGeom>
          <a:noFill/>
          <a:ln w="19050">
            <a:solidFill>
              <a:srgbClr val="595959"/>
            </a:solidFill>
            <a:prstDash val="solid"/>
            <a:tailEnd type="triangle"/>
          </a:ln>
        </p:spPr>
        <p:txBody>
          <a:bodyPr/>
          <a:lstStyle/>
          <a:p>
            <a:endParaRPr/>
          </a:p>
        </p:txBody>
      </p:sp>
      <p:sp>
        <p:nvSpPr>
          <p:cNvPr id="11" name="Shape 9"/>
          <p:cNvSpPr/>
          <p:nvPr/>
        </p:nvSpPr>
        <p:spPr>
          <a:xfrm>
            <a:off x="6400800" y="3566160"/>
            <a:ext cx="2286000" cy="685800"/>
          </a:xfrm>
          <a:prstGeom prst="rect">
            <a:avLst/>
          </a:prstGeom>
          <a:solidFill>
            <a:srgbClr val="DEEAF6"/>
          </a:solidFill>
          <a:ln w="12700">
            <a:solidFill>
              <a:srgbClr val="2E74B5"/>
            </a:solidFill>
            <a:prstDash val="solid"/>
          </a:ln>
        </p:spPr>
        <p:txBody>
          <a:bodyPr/>
          <a:lstStyle/>
          <a:p>
            <a:endParaRPr/>
          </a:p>
        </p:txBody>
      </p:sp>
      <p:sp>
        <p:nvSpPr>
          <p:cNvPr id="12" name="Text 10"/>
          <p:cNvSpPr txBox="1"/>
          <p:nvPr/>
        </p:nvSpPr>
        <p:spPr>
          <a:xfrm>
            <a:off x="6400800" y="3566160"/>
            <a:ext cx="2286000" cy="685800"/>
          </a:xfrm>
          <a:prstGeom prst="rect">
            <a:avLst/>
          </a:prstGeom>
          <a:noFill/>
          <a:ln/>
        </p:spPr>
        <p:txBody>
          <a:bodyPr wrap="square" lIns="25400" tIns="25400" rIns="25400" bIns="25400"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Callers retry</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(extra load)</a:t>
            </a:r>
            <a:endParaRPr lang="en-US" sz="1300" dirty="0"/>
          </a:p>
        </p:txBody>
      </p:sp>
      <p:sp>
        <p:nvSpPr>
          <p:cNvPr id="13" name="Shape 11"/>
          <p:cNvSpPr/>
          <p:nvPr/>
        </p:nvSpPr>
        <p:spPr>
          <a:xfrm>
            <a:off x="8732520" y="3909060"/>
            <a:ext cx="502920" cy="0"/>
          </a:xfrm>
          <a:prstGeom prst="line">
            <a:avLst/>
          </a:prstGeom>
          <a:noFill/>
          <a:ln w="19050">
            <a:solidFill>
              <a:srgbClr val="595959"/>
            </a:solidFill>
            <a:prstDash val="solid"/>
            <a:tailEnd type="triangle"/>
          </a:ln>
        </p:spPr>
        <p:txBody>
          <a:bodyPr/>
          <a:lstStyle/>
          <a:p>
            <a:endParaRPr/>
          </a:p>
        </p:txBody>
      </p:sp>
      <p:sp>
        <p:nvSpPr>
          <p:cNvPr id="14" name="Shape 12"/>
          <p:cNvSpPr/>
          <p:nvPr/>
        </p:nvSpPr>
        <p:spPr>
          <a:xfrm>
            <a:off x="9281160" y="3566160"/>
            <a:ext cx="2286000" cy="685800"/>
          </a:xfrm>
          <a:prstGeom prst="rect">
            <a:avLst/>
          </a:prstGeom>
          <a:solidFill>
            <a:srgbClr val="DEEAF6"/>
          </a:solidFill>
          <a:ln w="12700">
            <a:solidFill>
              <a:srgbClr val="2E74B5"/>
            </a:solidFill>
            <a:prstDash val="solid"/>
          </a:ln>
        </p:spPr>
        <p:txBody>
          <a:bodyPr/>
          <a:lstStyle/>
          <a:p>
            <a:endParaRPr/>
          </a:p>
        </p:txBody>
      </p:sp>
      <p:sp>
        <p:nvSpPr>
          <p:cNvPr id="15" name="Text 13"/>
          <p:cNvSpPr txBox="1"/>
          <p:nvPr/>
        </p:nvSpPr>
        <p:spPr>
          <a:xfrm>
            <a:off x="9281160" y="3566160"/>
            <a:ext cx="2286000" cy="685800"/>
          </a:xfrm>
          <a:prstGeom prst="rect">
            <a:avLst/>
          </a:prstGeom>
          <a:noFill/>
          <a:ln/>
        </p:spPr>
        <p:txBody>
          <a:bodyPr wrap="square" lIns="25400" tIns="25400" rIns="25400" bIns="25400" rtlCol="0" anchor="ctr"/>
          <a:lstStyle/>
          <a:p>
            <a:pPr marL="0" indent="0" algn="ctr">
              <a:buNone/>
            </a:pPr>
            <a:r>
              <a:rPr lang="en-US" sz="1300" dirty="0">
                <a:solidFill>
                  <a:srgbClr val="000000"/>
                </a:solidFill>
                <a:latin typeface="Calibri" pitchFamily="34" charset="0"/>
                <a:ea typeface="Calibri" pitchFamily="34" charset="-122"/>
                <a:cs typeface="Calibri" pitchFamily="34" charset="-120"/>
              </a:rPr>
              <a:t>More failures</a:t>
            </a:r>
            <a:endParaRPr lang="en-US" sz="1300" dirty="0"/>
          </a:p>
        </p:txBody>
      </p:sp>
      <p:sp>
        <p:nvSpPr>
          <p:cNvPr id="16" name="Shape 14"/>
          <p:cNvSpPr/>
          <p:nvPr/>
        </p:nvSpPr>
        <p:spPr>
          <a:xfrm>
            <a:off x="10424160" y="4251960"/>
            <a:ext cx="0" cy="502920"/>
          </a:xfrm>
          <a:prstGeom prst="line">
            <a:avLst/>
          </a:prstGeom>
          <a:noFill/>
          <a:ln w="19050">
            <a:solidFill>
              <a:srgbClr val="595959"/>
            </a:solidFill>
            <a:prstDash val="solid"/>
          </a:ln>
        </p:spPr>
        <p:txBody>
          <a:bodyPr/>
          <a:lstStyle/>
          <a:p>
            <a:endParaRPr/>
          </a:p>
        </p:txBody>
      </p:sp>
      <p:sp>
        <p:nvSpPr>
          <p:cNvPr id="17" name="Shape 15"/>
          <p:cNvSpPr/>
          <p:nvPr/>
        </p:nvSpPr>
        <p:spPr>
          <a:xfrm>
            <a:off x="4663440" y="4754880"/>
            <a:ext cx="5760720" cy="0"/>
          </a:xfrm>
          <a:prstGeom prst="line">
            <a:avLst/>
          </a:prstGeom>
          <a:noFill/>
          <a:ln w="19050">
            <a:solidFill>
              <a:srgbClr val="595959"/>
            </a:solidFill>
            <a:prstDash val="solid"/>
          </a:ln>
        </p:spPr>
        <p:txBody>
          <a:bodyPr/>
          <a:lstStyle/>
          <a:p>
            <a:endParaRPr/>
          </a:p>
        </p:txBody>
      </p:sp>
      <p:sp>
        <p:nvSpPr>
          <p:cNvPr id="18" name="Shape 16"/>
          <p:cNvSpPr/>
          <p:nvPr/>
        </p:nvSpPr>
        <p:spPr>
          <a:xfrm>
            <a:off x="4663440" y="4754880"/>
            <a:ext cx="0" cy="0"/>
          </a:xfrm>
          <a:prstGeom prst="line">
            <a:avLst/>
          </a:prstGeom>
          <a:noFill/>
          <a:ln w="19050">
            <a:solidFill>
              <a:srgbClr val="595959"/>
            </a:solidFill>
            <a:prstDash val="solid"/>
            <a:tailEnd type="triangle"/>
          </a:ln>
        </p:spPr>
        <p:txBody>
          <a:bodyPr/>
          <a:lstStyle/>
          <a:p>
            <a:endParaRPr/>
          </a:p>
        </p:txBody>
      </p:sp>
      <p:sp>
        <p:nvSpPr>
          <p:cNvPr id="19" name="Text 17"/>
          <p:cNvSpPr txBox="1"/>
          <p:nvPr/>
        </p:nvSpPr>
        <p:spPr>
          <a:xfrm>
            <a:off x="6400800" y="4800600"/>
            <a:ext cx="2286000" cy="274320"/>
          </a:xfrm>
          <a:prstGeom prst="rect">
            <a:avLst/>
          </a:prstGeom>
          <a:noFill/>
          <a:ln/>
        </p:spPr>
        <p:txBody>
          <a:bodyPr wrap="square" lIns="0" tIns="0" rIns="0" bIns="0" rtlCol="0" anchor="ctr"/>
          <a:lstStyle/>
          <a:p>
            <a:pPr marL="0" indent="0" algn="ctr">
              <a:buNone/>
            </a:pPr>
            <a:r>
              <a:rPr lang="en-US" sz="1200" i="1" dirty="0">
                <a:solidFill>
                  <a:srgbClr val="595959"/>
                </a:solidFill>
                <a:latin typeface="Calibri" pitchFamily="34" charset="0"/>
                <a:ea typeface="Calibri" pitchFamily="34" charset="-122"/>
                <a:cs typeface="Calibri" pitchFamily="34" charset="-120"/>
              </a:rPr>
              <a:t>feedback loop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1672" cy="594360"/>
          </a:xfrm>
          <a:prstGeom prst="rect">
            <a:avLst/>
          </a:prstGeom>
          <a:noFill/>
        </p:spPr>
        <p:txBody>
          <a:bodyPr wrap="square">
            <a:spAutoFit/>
          </a:bodyPr>
          <a:lstStyle/>
          <a:p>
            <a:pPr algn="l">
              <a:spcAft>
                <a:spcPts val="600"/>
              </a:spcAft>
            </a:pPr>
            <a:r>
              <a:rPr sz="2800" b="1">
                <a:solidFill>
                  <a:srgbClr val="1F4E79"/>
                </a:solidFill>
                <a:latin typeface="Calibri"/>
              </a:rPr>
              <a:t>System Design and Architecture</a:t>
            </a:r>
          </a:p>
        </p:txBody>
      </p:sp>
      <p:sp>
        <p:nvSpPr>
          <p:cNvPr id="3" name="TextBox 2"/>
          <p:cNvSpPr txBox="1"/>
          <p:nvPr/>
        </p:nvSpPr>
        <p:spPr>
          <a:xfrm>
            <a:off x="548640" y="1051560"/>
            <a:ext cx="11091672" cy="365760"/>
          </a:xfrm>
          <a:prstGeom prst="rect">
            <a:avLst/>
          </a:prstGeom>
          <a:noFill/>
        </p:spPr>
        <p:txBody>
          <a:bodyPr wrap="square">
            <a:spAutoFit/>
          </a:bodyPr>
          <a:lstStyle/>
          <a:p>
            <a:pPr algn="l">
              <a:spcAft>
                <a:spcPts val="600"/>
              </a:spcAft>
            </a:pPr>
            <a:r>
              <a:rPr sz="1500" b="0">
                <a:solidFill>
                  <a:srgbClr val="595959"/>
                </a:solidFill>
                <a:latin typeface="Calibri"/>
              </a:rPr>
              <a:t>The system is a closed loop. The control action changes the state that is observed next.</a:t>
            </a:r>
          </a:p>
        </p:txBody>
      </p:sp>
      <p:sp>
        <p:nvSpPr>
          <p:cNvPr id="4" name="Rectangle 3"/>
          <p:cNvSpPr/>
          <p:nvPr/>
        </p:nvSpPr>
        <p:spPr>
          <a:xfrm>
            <a:off x="548640" y="1783080"/>
            <a:ext cx="2514600" cy="96012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000000"/>
                </a:solidFill>
                <a:latin typeface="Calibri"/>
              </a:rPr>
              <a:t>1. Microservice Testbed</a:t>
            </a:r>
          </a:p>
          <a:p>
            <a:pPr algn="ctr">
              <a:spcBef>
                <a:spcPts val="300"/>
              </a:spcBef>
            </a:pPr>
            <a:r>
              <a:rPr sz="1050">
                <a:solidFill>
                  <a:srgbClr val="595959"/>
                </a:solidFill>
                <a:latin typeface="Calibri"/>
              </a:rPr>
              <a:t>4 services, bounded worker slots</a:t>
            </a:r>
          </a:p>
        </p:txBody>
      </p:sp>
      <p:sp>
        <p:nvSpPr>
          <p:cNvPr id="5" name="Rectangle 4"/>
          <p:cNvSpPr/>
          <p:nvPr/>
        </p:nvSpPr>
        <p:spPr>
          <a:xfrm>
            <a:off x="3407968" y="1783080"/>
            <a:ext cx="2514600" cy="96012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000000"/>
                </a:solidFill>
                <a:latin typeface="Calibri"/>
              </a:rPr>
              <a:t>2. Telemetry Collection</a:t>
            </a:r>
          </a:p>
          <a:p>
            <a:pPr algn="ctr">
              <a:spcBef>
                <a:spcPts val="300"/>
              </a:spcBef>
            </a:pPr>
            <a:r>
              <a:rPr sz="1050">
                <a:solidFill>
                  <a:srgbClr val="595959"/>
                </a:solidFill>
                <a:latin typeface="Calibri"/>
              </a:rPr>
              <a:t>every call attempt logged</a:t>
            </a:r>
          </a:p>
        </p:txBody>
      </p:sp>
      <p:sp>
        <p:nvSpPr>
          <p:cNvPr id="6" name="Rectangle 5"/>
          <p:cNvSpPr/>
          <p:nvPr/>
        </p:nvSpPr>
        <p:spPr>
          <a:xfrm>
            <a:off x="6267297" y="1783080"/>
            <a:ext cx="2514600" cy="96012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000000"/>
                </a:solidFill>
                <a:latin typeface="Calibri"/>
              </a:rPr>
              <a:t>3. Time-Varying Service Graph</a:t>
            </a:r>
          </a:p>
          <a:p>
            <a:pPr algn="ctr">
              <a:spcBef>
                <a:spcPts val="300"/>
              </a:spcBef>
            </a:pPr>
            <a:r>
              <a:rPr sz="1050">
                <a:solidFill>
                  <a:srgbClr val="595959"/>
                </a:solidFill>
                <a:latin typeface="Calibri"/>
              </a:rPr>
              <a:t>per-edge features, 2 s windows</a:t>
            </a:r>
          </a:p>
        </p:txBody>
      </p:sp>
      <p:sp>
        <p:nvSpPr>
          <p:cNvPr id="7" name="Rectangle 6"/>
          <p:cNvSpPr/>
          <p:nvPr/>
        </p:nvSpPr>
        <p:spPr>
          <a:xfrm>
            <a:off x="9126626" y="1783080"/>
            <a:ext cx="2514600" cy="960120"/>
          </a:xfrm>
          <a:prstGeom prst="rect">
            <a:avLst/>
          </a:prstGeom>
          <a:solidFill>
            <a:srgbClr val="DEEBF7"/>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000000"/>
                </a:solidFill>
                <a:latin typeface="Calibri"/>
              </a:rPr>
              <a:t>4. Livelock Detection and Prediction</a:t>
            </a:r>
          </a:p>
          <a:p>
            <a:pPr algn="ctr">
              <a:spcBef>
                <a:spcPts val="300"/>
              </a:spcBef>
            </a:pPr>
            <a:r>
              <a:rPr sz="1050">
                <a:solidFill>
                  <a:srgbClr val="595959"/>
                </a:solidFill>
                <a:latin typeface="Calibri"/>
              </a:rPr>
              <a:t>four conditions, 10 s ahead</a:t>
            </a:r>
          </a:p>
        </p:txBody>
      </p:sp>
      <p:sp>
        <p:nvSpPr>
          <p:cNvPr id="8" name="Right Arrow 7"/>
          <p:cNvSpPr/>
          <p:nvPr/>
        </p:nvSpPr>
        <p:spPr>
          <a:xfrm>
            <a:off x="3099816" y="2180844"/>
            <a:ext cx="271576" cy="164592"/>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5959144" y="2180844"/>
            <a:ext cx="271576" cy="164592"/>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818473" y="2180844"/>
            <a:ext cx="271576" cy="164592"/>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07968" y="3703320"/>
            <a:ext cx="8233257" cy="77724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000000"/>
                </a:solidFill>
                <a:latin typeface="Calibri"/>
              </a:rPr>
              <a:t>5. Retry-Budget Controller</a:t>
            </a:r>
          </a:p>
          <a:p>
            <a:pPr algn="ctr">
              <a:spcBef>
                <a:spcPts val="300"/>
              </a:spcBef>
            </a:pPr>
            <a:r>
              <a:rPr sz="1050">
                <a:solidFill>
                  <a:srgbClr val="595959"/>
                </a:solidFill>
                <a:latin typeface="Calibri"/>
              </a:rPr>
              <a:t>reduces the retry budget on the edge that is amplifying</a:t>
            </a:r>
          </a:p>
        </p:txBody>
      </p:sp>
      <p:sp>
        <p:nvSpPr>
          <p:cNvPr id="12" name="Down Arrow 11"/>
          <p:cNvSpPr/>
          <p:nvPr/>
        </p:nvSpPr>
        <p:spPr>
          <a:xfrm>
            <a:off x="10301630" y="2779776"/>
            <a:ext cx="164592" cy="886967"/>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274320" y="4091939"/>
            <a:ext cx="3133648" cy="0"/>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74320" y="2263140"/>
            <a:ext cx="0" cy="1828799"/>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74320" y="2263140"/>
            <a:ext cx="274320" cy="0"/>
          </a:xfrm>
          <a:prstGeom prst="line">
            <a:avLst/>
          </a:prstGeom>
          <a:ln w="1587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84048" y="3689603"/>
            <a:ext cx="2834640" cy="274320"/>
          </a:xfrm>
          <a:prstGeom prst="rect">
            <a:avLst/>
          </a:prstGeom>
          <a:noFill/>
        </p:spPr>
        <p:txBody>
          <a:bodyPr wrap="square">
            <a:spAutoFit/>
          </a:bodyPr>
          <a:lstStyle/>
          <a:p>
            <a:pPr algn="l">
              <a:spcAft>
                <a:spcPts val="600"/>
              </a:spcAft>
            </a:pPr>
            <a:r>
              <a:rPr sz="1100" b="0">
                <a:solidFill>
                  <a:srgbClr val="595959"/>
                </a:solidFill>
                <a:latin typeface="Calibri"/>
              </a:rPr>
              <a:t>retry budget update (feedback)</a:t>
            </a:r>
          </a:p>
        </p:txBody>
      </p:sp>
      <p:sp>
        <p:nvSpPr>
          <p:cNvPr id="17" name="TextBox 16"/>
          <p:cNvSpPr txBox="1"/>
          <p:nvPr/>
        </p:nvSpPr>
        <p:spPr>
          <a:xfrm>
            <a:off x="548640" y="4800600"/>
            <a:ext cx="11091672" cy="1005840"/>
          </a:xfrm>
          <a:prstGeom prst="rect">
            <a:avLst/>
          </a:prstGeom>
          <a:noFill/>
        </p:spPr>
        <p:txBody>
          <a:bodyPr wrap="square">
            <a:spAutoFit/>
          </a:bodyPr>
          <a:lstStyle/>
          <a:p>
            <a:pPr algn="l">
              <a:spcAft>
                <a:spcPts val="600"/>
              </a:spcAft>
            </a:pPr>
            <a:r>
              <a:rPr sz="1500" b="0">
                <a:solidFill>
                  <a:srgbClr val="000000"/>
                </a:solidFill>
                <a:latin typeface="Calibri"/>
              </a:rPr>
              <a:t>Stages 1 to 3 produce the data. Stage 4 decides whether a call edge is heading into livelock.</a:t>
            </a:r>
          </a:p>
          <a:p>
            <a:pPr algn="l">
              <a:spcAft>
                <a:spcPts val="600"/>
              </a:spcAft>
            </a:pPr>
            <a:r>
              <a:rPr sz="1500" b="0">
                <a:solidFill>
                  <a:srgbClr val="000000"/>
                </a:solidFill>
                <a:latin typeface="Calibri"/>
              </a:rPr>
              <a:t>Stage 5 acts on that decision, and the effect appears in the next round of telemetry.</a:t>
            </a:r>
          </a:p>
        </p:txBody>
      </p:sp>
      <p:sp>
        <p:nvSpPr>
          <p:cNvPr id="18" name="TextBox 17"/>
          <p:cNvSpPr txBox="1"/>
          <p:nvPr/>
        </p:nvSpPr>
        <p:spPr>
          <a:xfrm>
            <a:off x="11338560" y="6355080"/>
            <a:ext cx="457200" cy="274320"/>
          </a:xfrm>
          <a:prstGeom prst="rect">
            <a:avLst/>
          </a:prstGeom>
          <a:noFill/>
        </p:spPr>
        <p:txBody>
          <a:bodyPr wrap="square">
            <a:spAutoFit/>
          </a:bodyPr>
          <a:lstStyle/>
          <a:p>
            <a:pPr algn="l">
              <a:spcAft>
                <a:spcPts val="600"/>
              </a:spcAft>
            </a:pPr>
            <a:r>
              <a:rPr sz="1100" b="0">
                <a:solidFill>
                  <a:srgbClr val="595959"/>
                </a:solidFill>
                <a:latin typeface="Calibri"/>
              </a:rPr>
              <a:t>3</a:t>
            </a:r>
          </a:p>
        </p:txBody>
      </p:sp>
    </p:spTree>
    <p:extLst>
      <p:ext uri="{BB962C8B-B14F-4D97-AF65-F5344CB8AC3E}">
        <p14:creationId xmlns:p14="http://schemas.microsoft.com/office/powerpoint/2010/main" val="1705903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1672" cy="594360"/>
          </a:xfrm>
          <a:prstGeom prst="rect">
            <a:avLst/>
          </a:prstGeom>
          <a:noFill/>
        </p:spPr>
        <p:txBody>
          <a:bodyPr wrap="square">
            <a:spAutoFit/>
          </a:bodyPr>
          <a:lstStyle/>
          <a:p>
            <a:pPr>
              <a:spcAft>
                <a:spcPts val="600"/>
              </a:spcAft>
            </a:pPr>
            <a:r>
              <a:rPr sz="2800" b="1">
                <a:solidFill>
                  <a:srgbClr val="1F4E79"/>
                </a:solidFill>
                <a:latin typeface="Calibri"/>
              </a:rPr>
              <a:t>Related Work</a:t>
            </a:r>
          </a:p>
        </p:txBody>
      </p:sp>
      <p:sp>
        <p:nvSpPr>
          <p:cNvPr id="3" name="TextBox 2"/>
          <p:cNvSpPr txBox="1"/>
          <p:nvPr/>
        </p:nvSpPr>
        <p:spPr>
          <a:xfrm>
            <a:off x="11338560" y="6355080"/>
            <a:ext cx="457200" cy="274320"/>
          </a:xfrm>
          <a:prstGeom prst="rect">
            <a:avLst/>
          </a:prstGeom>
          <a:noFill/>
        </p:spPr>
        <p:txBody>
          <a:bodyPr wrap="square">
            <a:spAutoFit/>
          </a:bodyPr>
          <a:lstStyle/>
          <a:p>
            <a:pPr>
              <a:spcAft>
                <a:spcPts val="600"/>
              </a:spcAft>
            </a:pPr>
            <a:r>
              <a:rPr sz="1100" b="0">
                <a:solidFill>
                  <a:srgbClr val="595959"/>
                </a:solidFill>
                <a:latin typeface="Calibri"/>
              </a:rPr>
              <a:t>4</a:t>
            </a:r>
          </a:p>
        </p:txBody>
      </p:sp>
      <p:sp>
        <p:nvSpPr>
          <p:cNvPr id="4" name="TextBox 3"/>
          <p:cNvSpPr txBox="1"/>
          <p:nvPr/>
        </p:nvSpPr>
        <p:spPr>
          <a:xfrm>
            <a:off x="548640" y="1051560"/>
            <a:ext cx="11091672" cy="320040"/>
          </a:xfrm>
          <a:prstGeom prst="rect">
            <a:avLst/>
          </a:prstGeom>
          <a:noFill/>
        </p:spPr>
        <p:txBody>
          <a:bodyPr wrap="square">
            <a:spAutoFit/>
          </a:bodyPr>
          <a:lstStyle/>
          <a:p>
            <a:pPr>
              <a:spcAft>
                <a:spcPts val="600"/>
              </a:spcAft>
            </a:pPr>
            <a:r>
              <a:rPr sz="1500" b="0">
                <a:solidFill>
                  <a:srgbClr val="595959"/>
                </a:solidFill>
                <a:latin typeface="Calibri"/>
              </a:rPr>
              <a:t>Retry-induced failure is a known problem. This is what the published work covers.</a:t>
            </a:r>
          </a:p>
        </p:txBody>
      </p:sp>
      <p:graphicFrame>
        <p:nvGraphicFramePr>
          <p:cNvPr id="5" name="Table 4"/>
          <p:cNvGraphicFramePr>
            <a:graphicFrameLocks noGrp="1"/>
          </p:cNvGraphicFramePr>
          <p:nvPr/>
        </p:nvGraphicFramePr>
        <p:xfrm>
          <a:off x="548640" y="1481328"/>
          <a:ext cx="11091672" cy="4535424"/>
        </p:xfrm>
        <a:graphic>
          <a:graphicData uri="http://schemas.openxmlformats.org/drawingml/2006/table">
            <a:tbl>
              <a:tblPr/>
              <a:tblGrid>
                <a:gridCol w="192024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gridCol w="4279392">
                  <a:extLst>
                    <a:ext uri="{9D8B030D-6E8A-4147-A177-3AD203B41FA5}">
                      <a16:colId xmlns:a16="http://schemas.microsoft.com/office/drawing/2014/main" val="20002"/>
                    </a:ext>
                  </a:extLst>
                </a:gridCol>
              </a:tblGrid>
              <a:tr h="566928">
                <a:tc>
                  <a:txBody>
                    <a:bodyPr/>
                    <a:lstStyle/>
                    <a:p>
                      <a:pPr marL="0" indent="0" algn="l">
                        <a:buNone/>
                      </a:pPr>
                      <a:r>
                        <a:rPr sz="1150" b="1">
                          <a:solidFill>
                            <a:srgbClr val="FFFFFF"/>
                          </a:solidFill>
                          <a:latin typeface="Calibri"/>
                        </a:rPr>
                        <a:t>Work</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sz="1150" b="1">
                          <a:solidFill>
                            <a:srgbClr val="FFFFFF"/>
                          </a:solidFill>
                          <a:latin typeface="Calibri"/>
                        </a:rPr>
                        <a:t>What it contributes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sz="1150" b="1">
                          <a:solidFill>
                            <a:srgbClr val="FFFFFF"/>
                          </a:solidFill>
                          <a:latin typeface="Calibri"/>
                        </a:rPr>
                        <a:t>What it does not do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566928">
                <a:tc>
                  <a:txBody>
                    <a:bodyPr/>
                    <a:lstStyle/>
                    <a:p>
                      <a:pPr marL="0" indent="0" algn="l">
                        <a:buNone/>
                      </a:pPr>
                      <a:r>
                        <a:rPr sz="1150" b="0">
                          <a:solidFill>
                            <a:srgbClr val="000000"/>
                          </a:solidFill>
                          <a:latin typeface="Calibri"/>
                        </a:rPr>
                        <a:t>Bronson et al.
HotOS 2021</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Named the failure class: a trigger pushes the system into a bad state that persists after the trigger is gone</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Conceptual only. No metric, no detector, no experiment</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sz="1150" b="0">
                          <a:solidFill>
                            <a:srgbClr val="000000"/>
                          </a:solidFill>
                          <a:latin typeface="Calibri"/>
                        </a:rPr>
                        <a:t>Huang et al.
OSDI 2022</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150" b="0">
                          <a:solidFill>
                            <a:srgbClr val="000000"/>
                          </a:solidFill>
                          <a:latin typeface="Calibri"/>
                        </a:rPr>
                        <a:t>Studied real incident reports from 11 organisations. Retries are the sustaining cause in over half of them</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150" b="0">
                          <a:solidFill>
                            <a:srgbClr val="000000"/>
                          </a:solidFill>
                          <a:latin typeface="Calibri"/>
                        </a:rPr>
                        <a:t>Describes incidents after the fact. No online detection or prediction</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66928">
                <a:tc>
                  <a:txBody>
                    <a:bodyPr/>
                    <a:lstStyle/>
                    <a:p>
                      <a:pPr marL="0" indent="0" algn="l">
                        <a:buNone/>
                      </a:pPr>
                      <a:r>
                        <a:rPr sz="1150" b="0">
                          <a:solidFill>
                            <a:srgbClr val="000000"/>
                          </a:solidFill>
                          <a:latin typeface="Calibri"/>
                        </a:rPr>
                        <a:t>Isaacs et al.
HotOS 2025</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Queueing models and simulation to find configurations that will fail before they are deployed</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Offline and pre-deployment. States that online prediction is still an open problem</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sz="1150" b="0">
                          <a:solidFill>
                            <a:srgbClr val="000000"/>
                          </a:solidFill>
                          <a:latin typeface="Calibri"/>
                        </a:rPr>
                        <a:t>Gan et al. (Seer)
ASPLOS 2019</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150" b="0">
                          <a:solidFill>
                            <a:srgbClr val="000000"/>
                          </a:solidFill>
                          <a:latin typeface="Calibri"/>
                        </a:rPr>
                        <a:t>Deep learning predicts QoS violations about 100 ms ahead using per-service queue depths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150" b="0">
                          <a:solidFill>
                            <a:srgbClr val="000000"/>
                          </a:solidFill>
                          <a:latin typeface="Calibri"/>
                        </a:rPr>
                        <a:t>Does not model retries at all. Reacts by resizing containers, not by changing retry policy</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566928">
                <a:tc>
                  <a:txBody>
                    <a:bodyPr/>
                    <a:lstStyle/>
                    <a:p>
                      <a:pPr marL="0" indent="0" algn="l">
                        <a:buNone/>
                      </a:pPr>
                      <a:r>
                        <a:rPr sz="1150" b="0">
                          <a:solidFill>
                            <a:srgbClr val="000000"/>
                          </a:solidFill>
                          <a:latin typeface="Calibri"/>
                        </a:rPr>
                        <a:t>Google SRE
2016</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Retry budget: a client may retry only while retries stay under 10 percent of its requests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Fixed threshold and reactive. Same budget applied no matter which edge is amplifying</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sz="1150" b="0">
                          <a:solidFill>
                            <a:srgbClr val="000000"/>
                          </a:solidFill>
                          <a:latin typeface="Calibri"/>
                        </a:rPr>
                        <a:t>Mehan and Saluja
arXiv 2026</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150" b="0">
                          <a:solidFill>
                            <a:srgbClr val="000000"/>
                          </a:solidFill>
                          <a:latin typeface="Calibri"/>
                        </a:rPr>
                        <a:t>Defines a Retry Amplification Factor and an adaptive retry budget, tested in simulation</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150" b="0">
                          <a:solidFill>
                            <a:srgbClr val="000000"/>
                          </a:solidFill>
                          <a:latin typeface="Calibri"/>
                        </a:rPr>
                        <a:t>Analysis and simulation. No ahead-of-time prediction and no definition of livelock</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566928">
                <a:tc>
                  <a:txBody>
                    <a:bodyPr/>
                    <a:lstStyle/>
                    <a:p>
                      <a:pPr marL="0" indent="0" algn="l">
                        <a:buNone/>
                      </a:pPr>
                      <a:r>
                        <a:rPr sz="1150" b="0">
                          <a:solidFill>
                            <a:srgbClr val="000000"/>
                          </a:solidFill>
                          <a:latin typeface="Calibri"/>
                        </a:rPr>
                        <a:t>Luo et al. (Alibaba)
SoCC 2021</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Public trace of about 20,000 microservices and over 10 billion calls over 7 days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150" b="0">
                          <a:solidFill>
                            <a:srgbClr val="000000"/>
                          </a:solidFill>
                          <a:latin typeface="Calibri"/>
                        </a:rPr>
                        <a:t>Has no per-attempt field, so retry amplification cannot be measured from it</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11091672" cy="594360"/>
          </a:xfrm>
          <a:prstGeom prst="rect">
            <a:avLst/>
          </a:prstGeom>
          <a:noFill/>
        </p:spPr>
        <p:txBody>
          <a:bodyPr wrap="square">
            <a:spAutoFit/>
          </a:bodyPr>
          <a:lstStyle/>
          <a:p>
            <a:pPr>
              <a:spcAft>
                <a:spcPts val="600"/>
              </a:spcAft>
            </a:pPr>
            <a:r>
              <a:rPr sz="2800" b="1">
                <a:solidFill>
                  <a:srgbClr val="1F4E79"/>
                </a:solidFill>
                <a:latin typeface="Calibri"/>
              </a:rPr>
              <a:t>Research Gap and Our Contribution</a:t>
            </a:r>
          </a:p>
        </p:txBody>
      </p:sp>
      <p:sp>
        <p:nvSpPr>
          <p:cNvPr id="3" name="TextBox 2"/>
          <p:cNvSpPr txBox="1"/>
          <p:nvPr/>
        </p:nvSpPr>
        <p:spPr>
          <a:xfrm>
            <a:off x="11338560" y="6355080"/>
            <a:ext cx="457200" cy="274320"/>
          </a:xfrm>
          <a:prstGeom prst="rect">
            <a:avLst/>
          </a:prstGeom>
          <a:noFill/>
        </p:spPr>
        <p:txBody>
          <a:bodyPr wrap="square">
            <a:spAutoFit/>
          </a:bodyPr>
          <a:lstStyle/>
          <a:p>
            <a:pPr>
              <a:spcAft>
                <a:spcPts val="600"/>
              </a:spcAft>
            </a:pPr>
            <a:r>
              <a:rPr sz="1100" b="0">
                <a:solidFill>
                  <a:srgbClr val="595959"/>
                </a:solidFill>
                <a:latin typeface="Calibri"/>
              </a:rPr>
              <a:t>5</a:t>
            </a:r>
          </a:p>
        </p:txBody>
      </p:sp>
      <p:sp>
        <p:nvSpPr>
          <p:cNvPr id="4" name="TextBox 3"/>
          <p:cNvSpPr txBox="1"/>
          <p:nvPr/>
        </p:nvSpPr>
        <p:spPr>
          <a:xfrm>
            <a:off x="548640" y="1051560"/>
            <a:ext cx="11091672" cy="320040"/>
          </a:xfrm>
          <a:prstGeom prst="rect">
            <a:avLst/>
          </a:prstGeom>
          <a:noFill/>
        </p:spPr>
        <p:txBody>
          <a:bodyPr wrap="square">
            <a:spAutoFit/>
          </a:bodyPr>
          <a:lstStyle/>
          <a:p>
            <a:pPr>
              <a:spcAft>
                <a:spcPts val="600"/>
              </a:spcAft>
            </a:pPr>
            <a:r>
              <a:rPr sz="1500" b="0">
                <a:solidFill>
                  <a:srgbClr val="595959"/>
                </a:solidFill>
                <a:latin typeface="Calibri"/>
              </a:rPr>
              <a:t>No existing work predicts retry-induced livelock ahead of time and then acts on the retry policy itself.</a:t>
            </a:r>
          </a:p>
        </p:txBody>
      </p:sp>
      <p:graphicFrame>
        <p:nvGraphicFramePr>
          <p:cNvPr id="5" name="Table 4"/>
          <p:cNvGraphicFramePr>
            <a:graphicFrameLocks noGrp="1"/>
          </p:cNvGraphicFramePr>
          <p:nvPr/>
        </p:nvGraphicFramePr>
        <p:xfrm>
          <a:off x="548640" y="1481328"/>
          <a:ext cx="11091672" cy="3328416"/>
        </p:xfrm>
        <a:graphic>
          <a:graphicData uri="http://schemas.openxmlformats.org/drawingml/2006/table">
            <a:tbl>
              <a:tblPr/>
              <a:tblGrid>
                <a:gridCol w="414223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475488">
                <a:tc>
                  <a:txBody>
                    <a:bodyPr/>
                    <a:lstStyle/>
                    <a:p>
                      <a:pPr marL="0" indent="0" algn="l">
                        <a:buNone/>
                      </a:pPr>
                      <a:r>
                        <a:rPr sz="1250" b="1">
                          <a:solidFill>
                            <a:srgbClr val="FFFFFF"/>
                          </a:solidFill>
                          <a:latin typeface="Calibri"/>
                        </a:rPr>
                        <a:t>Capability</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sz="1250" b="1">
                          <a:solidFill>
                            <a:srgbClr val="FFFFFF"/>
                          </a:solidFill>
                          <a:latin typeface="Calibri"/>
                        </a:rPr>
                        <a:t>Metastable
failure studies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sz="1250" b="1">
                          <a:solidFill>
                            <a:srgbClr val="FFFFFF"/>
                          </a:solidFill>
                          <a:latin typeface="Calibri"/>
                        </a:rPr>
                        <a:t>Seer</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sz="1250" b="1">
                          <a:solidFill>
                            <a:srgbClr val="FFFFFF"/>
                          </a:solidFill>
                          <a:latin typeface="Calibri"/>
                        </a:rPr>
                        <a:t>SRE retry
budget</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sz="1250" b="1">
                          <a:solidFill>
                            <a:srgbClr val="FFFFFF"/>
                          </a:solidFill>
                          <a:latin typeface="Calibri"/>
                        </a:rPr>
                        <a:t>Ours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75488">
                <a:tc>
                  <a:txBody>
                    <a:bodyPr/>
                    <a:lstStyle/>
                    <a:p>
                      <a:pPr marL="0" indent="0" algn="l">
                        <a:buNone/>
                      </a:pPr>
                      <a:r>
                        <a:rPr sz="1250" b="0">
                          <a:solidFill>
                            <a:srgbClr val="000000"/>
                          </a:solidFill>
                          <a:latin typeface="Calibri"/>
                        </a:rPr>
                        <a:t>Measures retry amplification per call edge</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Indirectly</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sz="1250" b="0">
                          <a:solidFill>
                            <a:srgbClr val="000000"/>
                          </a:solidFill>
                          <a:latin typeface="Calibri"/>
                        </a:rPr>
                        <a:t>Test that separates livelock from ordinary overload</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75488">
                <a:tc>
                  <a:txBody>
                    <a:bodyPr/>
                    <a:lstStyle/>
                    <a:p>
                      <a:pPr marL="0" indent="0" algn="l">
                        <a:buNone/>
                      </a:pPr>
                      <a:r>
                        <a:rPr sz="1250" b="0">
                          <a:solidFill>
                            <a:srgbClr val="000000"/>
                          </a:solidFill>
                          <a:latin typeface="Calibri"/>
                        </a:rPr>
                        <a:t>Predicts before the bad state is reached</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Yes, but for QoS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lgn="l">
                        <a:buNone/>
                      </a:pPr>
                      <a:r>
                        <a:rPr sz="1250" b="0">
                          <a:solidFill>
                            <a:srgbClr val="000000"/>
                          </a:solidFill>
                          <a:latin typeface="Calibri"/>
                        </a:rPr>
                        <a:t>Acts by changing the retry policy itself</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Suggested</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75488">
                <a:tc>
                  <a:txBody>
                    <a:bodyPr/>
                    <a:lstStyle/>
                    <a:p>
                      <a:pPr marL="0" indent="0" algn="l">
                        <a:buNone/>
                      </a:pPr>
                      <a:r>
                        <a:rPr sz="1250" b="0">
                          <a:solidFill>
                            <a:srgbClr val="000000"/>
                          </a:solidFill>
                          <a:latin typeface="Calibri"/>
                        </a:rPr>
                        <a:t>Control driven by a measured per-edge risk score</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lgn="l">
                        <a:buNone/>
                      </a:pPr>
                      <a:r>
                        <a:rPr sz="1250" b="0">
                          <a:solidFill>
                            <a:srgbClr val="000000"/>
                          </a:solidFill>
                          <a:latin typeface="Calibri"/>
                        </a:rPr>
                        <a:t>Checked against a shuffled-label control run</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No</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sz="1250" b="0">
                          <a:solidFill>
                            <a:srgbClr val="000000"/>
                          </a:solidFill>
                          <a:latin typeface="Calibri"/>
                        </a:rPr>
                        <a:t>Yes</a:t>
                      </a:r>
                    </a:p>
                  </a:txBody>
                  <a:tcPr marL="54864" marR="54864" marT="27432" marB="27432"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48640" y="4892040"/>
            <a:ext cx="11091672" cy="1188720"/>
          </a:xfrm>
          <a:prstGeom prst="rect">
            <a:avLst/>
          </a:prstGeom>
          <a:noFill/>
        </p:spPr>
        <p:txBody>
          <a:bodyPr wrap="square">
            <a:spAutoFit/>
          </a:bodyPr>
          <a:lstStyle/>
          <a:p>
            <a:pPr>
              <a:spcAft>
                <a:spcPts val="600"/>
              </a:spcAft>
            </a:pPr>
            <a:r>
              <a:rPr sz="1400" b="0">
                <a:solidFill>
                  <a:srgbClr val="000000"/>
                </a:solidFill>
                <a:latin typeface="Calibri"/>
              </a:rPr>
              <a:t>We are not claiming to handle failures better than a production system at Google or Meta.</a:t>
            </a:r>
          </a:p>
          <a:p>
            <a:pPr>
              <a:spcAft>
                <a:spcPts val="600"/>
              </a:spcAft>
            </a:pPr>
            <a:r>
              <a:rPr sz="1400" b="0">
                <a:solidFill>
                  <a:srgbClr val="000000"/>
                </a:solidFill>
                <a:latin typeface="Calibri"/>
              </a:rPr>
              <a:t>The contribution is the combination: retry amplification measured per call edge from per-attempt telemetry, a four-condition test that tells livelock apart from overload that is recovering, and a controller that changes the retry budget from that signal before the system reaches the bad state.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Implemented Testbed Architecture</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548640" y="4892040"/>
            <a:ext cx="11091672" cy="1463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Every internal call retries on failure, up to 3 attempts with exponential backoff.</a:t>
            </a:r>
            <a:endParaRPr lang="en-US" sz="1500" dirty="0"/>
          </a:p>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Worker slots are limited, so retries compete with new requests for the same capacity.</a:t>
            </a:r>
            <a:endParaRPr lang="en-US" sz="1500" dirty="0"/>
          </a:p>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This is what makes the retry storm cause real harm instead of being only extra traffic.</a:t>
            </a:r>
            <a:endParaRPr lang="en-US" sz="1500" dirty="0"/>
          </a:p>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One user request can become 9 calls to a failing service (3 retries at two levels).</a:t>
            </a:r>
            <a:endParaRPr lang="en-US" sz="1500" dirty="0"/>
          </a:p>
        </p:txBody>
      </p:sp>
      <p:sp>
        <p:nvSpPr>
          <p:cNvPr id="22" name="Rectangle 21"/>
          <p:cNvSpPr/>
          <p:nvPr/>
        </p:nvSpPr>
        <p:spPr>
          <a:xfrm>
            <a:off x="685800" y="2331720"/>
            <a:ext cx="2103120" cy="82296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0">
                <a:solidFill>
                  <a:srgbClr val="000000"/>
                </a:solidFill>
                <a:latin typeface="Times New Roman"/>
              </a:rPr>
              <a:t>Client</a:t>
            </a:r>
          </a:p>
          <a:p>
            <a:pPr algn="ctr"/>
            <a:r>
              <a:rPr sz="1100" b="0">
                <a:solidFill>
                  <a:srgbClr val="000000"/>
                </a:solidFill>
                <a:latin typeface="Times New Roman"/>
              </a:rPr>
              <a:t>(load generator)</a:t>
            </a:r>
          </a:p>
        </p:txBody>
      </p:sp>
      <p:sp>
        <p:nvSpPr>
          <p:cNvPr id="23" name="Rectangle 22"/>
          <p:cNvSpPr/>
          <p:nvPr/>
        </p:nvSpPr>
        <p:spPr>
          <a:xfrm>
            <a:off x="3246120" y="2331720"/>
            <a:ext cx="2103120" cy="82296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0">
                <a:solidFill>
                  <a:srgbClr val="000000"/>
                </a:solidFill>
                <a:latin typeface="Times New Roman"/>
              </a:rPr>
              <a:t>Gateway</a:t>
            </a:r>
          </a:p>
          <a:p>
            <a:pPr algn="ctr"/>
            <a:r>
              <a:rPr sz="1100" b="0">
                <a:solidFill>
                  <a:srgbClr val="000000"/>
                </a:solidFill>
                <a:latin typeface="Times New Roman"/>
              </a:rPr>
              <a:t>S1</a:t>
            </a:r>
          </a:p>
        </p:txBody>
      </p:sp>
      <p:sp>
        <p:nvSpPr>
          <p:cNvPr id="24" name="Rectangle 23"/>
          <p:cNvSpPr/>
          <p:nvPr/>
        </p:nvSpPr>
        <p:spPr>
          <a:xfrm>
            <a:off x="5806440" y="2331720"/>
            <a:ext cx="2103120" cy="82296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0">
                <a:solidFill>
                  <a:srgbClr val="000000"/>
                </a:solidFill>
                <a:latin typeface="Times New Roman"/>
              </a:rPr>
              <a:t>Order Service</a:t>
            </a:r>
          </a:p>
          <a:p>
            <a:pPr algn="ctr"/>
            <a:r>
              <a:rPr sz="1100" b="0">
                <a:solidFill>
                  <a:srgbClr val="000000"/>
                </a:solidFill>
                <a:latin typeface="Times New Roman"/>
              </a:rPr>
              <a:t>S2   (c = 8)</a:t>
            </a:r>
          </a:p>
        </p:txBody>
      </p:sp>
      <p:sp>
        <p:nvSpPr>
          <p:cNvPr id="25" name="Rectangle 24"/>
          <p:cNvSpPr/>
          <p:nvPr/>
        </p:nvSpPr>
        <p:spPr>
          <a:xfrm>
            <a:off x="9144000" y="1371600"/>
            <a:ext cx="2286000" cy="82296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0">
                <a:solidFill>
                  <a:srgbClr val="000000"/>
                </a:solidFill>
                <a:latin typeface="Times New Roman"/>
              </a:rPr>
              <a:t>Payment Service</a:t>
            </a:r>
          </a:p>
          <a:p>
            <a:pPr algn="ctr"/>
            <a:r>
              <a:rPr sz="1100" b="0">
                <a:solidFill>
                  <a:srgbClr val="000000"/>
                </a:solidFill>
                <a:latin typeface="Times New Roman"/>
              </a:rPr>
              <a:t>S3   (c = 2)</a:t>
            </a:r>
          </a:p>
        </p:txBody>
      </p:sp>
      <p:sp>
        <p:nvSpPr>
          <p:cNvPr id="26" name="Rectangle 25"/>
          <p:cNvSpPr/>
          <p:nvPr/>
        </p:nvSpPr>
        <p:spPr>
          <a:xfrm>
            <a:off x="9144000" y="3291840"/>
            <a:ext cx="2286000" cy="822960"/>
          </a:xfrm>
          <a:prstGeom prst="rect">
            <a:avLst/>
          </a:prstGeom>
          <a:solidFill>
            <a:srgbClr val="FFFFFF"/>
          </a:solidFill>
          <a:ln w="12700">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r>
              <a:rPr sz="1100" b="0">
                <a:solidFill>
                  <a:srgbClr val="000000"/>
                </a:solidFill>
                <a:latin typeface="Times New Roman"/>
              </a:rPr>
              <a:t>Inventory Service</a:t>
            </a:r>
          </a:p>
          <a:p>
            <a:pPr algn="ctr"/>
            <a:r>
              <a:rPr sz="1100" b="0">
                <a:solidFill>
                  <a:srgbClr val="000000"/>
                </a:solidFill>
                <a:latin typeface="Times New Roman"/>
              </a:rPr>
              <a:t>S4   (c = 2)</a:t>
            </a:r>
          </a:p>
        </p:txBody>
      </p:sp>
      <p:cxnSp>
        <p:nvCxnSpPr>
          <p:cNvPr id="27" name="Connector 26"/>
          <p:cNvCxnSpPr/>
          <p:nvPr/>
        </p:nvCxnSpPr>
        <p:spPr>
          <a:xfrm>
            <a:off x="2788920" y="2743200"/>
            <a:ext cx="45720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349240" y="2743200"/>
            <a:ext cx="45720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788920" y="2468880"/>
            <a:ext cx="457200" cy="219456"/>
          </a:xfrm>
          <a:prstGeom prst="rect">
            <a:avLst/>
          </a:prstGeom>
          <a:noFill/>
        </p:spPr>
        <p:txBody>
          <a:bodyPr wrap="none" lIns="0" tIns="0" rIns="0" bIns="0">
            <a:spAutoFit/>
          </a:bodyPr>
          <a:lstStyle/>
          <a:p>
            <a:pPr algn="ctr"/>
            <a:r>
              <a:rPr sz="900" i="1">
                <a:solidFill>
                  <a:srgbClr val="000000"/>
                </a:solidFill>
                <a:latin typeface="Times New Roman"/>
              </a:rPr>
              <a:t>e1</a:t>
            </a:r>
          </a:p>
        </p:txBody>
      </p:sp>
      <p:sp>
        <p:nvSpPr>
          <p:cNvPr id="30" name="TextBox 29"/>
          <p:cNvSpPr txBox="1"/>
          <p:nvPr/>
        </p:nvSpPr>
        <p:spPr>
          <a:xfrm>
            <a:off x="5349240" y="2468880"/>
            <a:ext cx="457200" cy="219456"/>
          </a:xfrm>
          <a:prstGeom prst="rect">
            <a:avLst/>
          </a:prstGeom>
          <a:noFill/>
        </p:spPr>
        <p:txBody>
          <a:bodyPr wrap="none" lIns="0" tIns="0" rIns="0" bIns="0">
            <a:spAutoFit/>
          </a:bodyPr>
          <a:lstStyle/>
          <a:p>
            <a:pPr algn="ctr"/>
            <a:r>
              <a:rPr sz="900" i="1">
                <a:solidFill>
                  <a:srgbClr val="000000"/>
                </a:solidFill>
                <a:latin typeface="Times New Roman"/>
              </a:rPr>
              <a:t>e2</a:t>
            </a:r>
          </a:p>
        </p:txBody>
      </p:sp>
      <p:cxnSp>
        <p:nvCxnSpPr>
          <p:cNvPr id="31" name="Connector 30"/>
          <p:cNvCxnSpPr/>
          <p:nvPr/>
        </p:nvCxnSpPr>
        <p:spPr>
          <a:xfrm>
            <a:off x="7909560" y="2743200"/>
            <a:ext cx="594360"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03920" y="1783080"/>
            <a:ext cx="0" cy="192024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503920" y="1783080"/>
            <a:ext cx="64008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503920" y="3703320"/>
            <a:ext cx="640080" cy="0"/>
          </a:xfrm>
          <a:prstGeom prst="line">
            <a:avLst/>
          </a:prstGeom>
          <a:ln w="127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595360" y="1508760"/>
            <a:ext cx="457200" cy="219456"/>
          </a:xfrm>
          <a:prstGeom prst="rect">
            <a:avLst/>
          </a:prstGeom>
          <a:noFill/>
        </p:spPr>
        <p:txBody>
          <a:bodyPr wrap="none" lIns="0" tIns="0" rIns="0" bIns="0">
            <a:spAutoFit/>
          </a:bodyPr>
          <a:lstStyle/>
          <a:p>
            <a:pPr algn="ctr"/>
            <a:r>
              <a:rPr sz="900" i="1">
                <a:solidFill>
                  <a:srgbClr val="000000"/>
                </a:solidFill>
                <a:latin typeface="Times New Roman"/>
              </a:rPr>
              <a:t>e3</a:t>
            </a:r>
          </a:p>
        </p:txBody>
      </p:sp>
      <p:sp>
        <p:nvSpPr>
          <p:cNvPr id="36" name="TextBox 35"/>
          <p:cNvSpPr txBox="1"/>
          <p:nvPr/>
        </p:nvSpPr>
        <p:spPr>
          <a:xfrm>
            <a:off x="8595360" y="3429000"/>
            <a:ext cx="457200" cy="219456"/>
          </a:xfrm>
          <a:prstGeom prst="rect">
            <a:avLst/>
          </a:prstGeom>
          <a:noFill/>
        </p:spPr>
        <p:txBody>
          <a:bodyPr wrap="none" lIns="0" tIns="0" rIns="0" bIns="0">
            <a:spAutoFit/>
          </a:bodyPr>
          <a:lstStyle/>
          <a:p>
            <a:pPr algn="ctr"/>
            <a:r>
              <a:rPr sz="900" i="1">
                <a:solidFill>
                  <a:srgbClr val="000000"/>
                </a:solidFill>
                <a:latin typeface="Times New Roman"/>
              </a:rPr>
              <a:t>e4</a:t>
            </a:r>
          </a:p>
        </p:txBody>
      </p:sp>
      <p:sp>
        <p:nvSpPr>
          <p:cNvPr id="37" name="TextBox 36"/>
          <p:cNvSpPr txBox="1"/>
          <p:nvPr/>
        </p:nvSpPr>
        <p:spPr>
          <a:xfrm>
            <a:off x="548640" y="4389120"/>
            <a:ext cx="11091672" cy="320040"/>
          </a:xfrm>
          <a:prstGeom prst="rect">
            <a:avLst/>
          </a:prstGeom>
          <a:noFill/>
        </p:spPr>
        <p:txBody>
          <a:bodyPr wrap="square" lIns="0" tIns="0" rIns="0" bIns="0">
            <a:spAutoFit/>
          </a:bodyPr>
          <a:lstStyle/>
          <a:p>
            <a:pPr algn="ctr"/>
            <a:r>
              <a:rPr sz="1200">
                <a:solidFill>
                  <a:srgbClr val="000000"/>
                </a:solidFill>
                <a:latin typeface="Times New Roman"/>
              </a:rPr>
              <a:t>Fig. 2.  Implemented microservice testbed. Each service Si has a bounded concurrency limit c; each edge ei retries on failure and is instrumented.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Module Identification</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7</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904879172"/>
              </p:ext>
            </p:extLst>
          </p:nvPr>
        </p:nvGraphicFramePr>
        <p:xfrm>
          <a:off x="1371600" y="1234440"/>
          <a:ext cx="8793480" cy="3291840"/>
        </p:xfrm>
        <a:graphic>
          <a:graphicData uri="http://schemas.openxmlformats.org/drawingml/2006/table">
            <a:tbl>
              <a:tblPr/>
              <a:tblGrid>
                <a:gridCol w="2961070">
                  <a:extLst>
                    <a:ext uri="{9D8B030D-6E8A-4147-A177-3AD203B41FA5}">
                      <a16:colId xmlns:a16="http://schemas.microsoft.com/office/drawing/2014/main" val="20000"/>
                    </a:ext>
                  </a:extLst>
                </a:gridCol>
                <a:gridCol w="5832410">
                  <a:extLst>
                    <a:ext uri="{9D8B030D-6E8A-4147-A177-3AD203B41FA5}">
                      <a16:colId xmlns:a16="http://schemas.microsoft.com/office/drawing/2014/main" val="20001"/>
                    </a:ext>
                  </a:extLst>
                </a:gridCol>
              </a:tblGrid>
              <a:tr h="4114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Function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 Microservice Testbed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Services communicating over HTTP in a call chain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2. Retry and Fault Injection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Inject latency or failures, retry with backoff</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3. Telemetry Pipeline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Record every call attempt into structured files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4. Livelock Detection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Apply the four conditions and label time windows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5. Graph Representation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Build a time-varying service call graph</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6. Prediction Model</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Predict livelock risk a few seconds ahead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7. Retry Controller</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Reduce retry budget on a high-risk path</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Module Completion</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8</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3517477226"/>
              </p:ext>
            </p:extLst>
          </p:nvPr>
        </p:nvGraphicFramePr>
        <p:xfrm>
          <a:off x="1973580" y="1234440"/>
          <a:ext cx="8168640" cy="3291840"/>
        </p:xfrm>
        <a:graphic>
          <a:graphicData uri="http://schemas.openxmlformats.org/drawingml/2006/table">
            <a:tbl>
              <a:tblPr/>
              <a:tblGrid>
                <a:gridCol w="2573166">
                  <a:extLst>
                    <a:ext uri="{9D8B030D-6E8A-4147-A177-3AD203B41FA5}">
                      <a16:colId xmlns:a16="http://schemas.microsoft.com/office/drawing/2014/main" val="20000"/>
                    </a:ext>
                  </a:extLst>
                </a:gridCol>
                <a:gridCol w="1542276">
                  <a:extLst>
                    <a:ext uri="{9D8B030D-6E8A-4147-A177-3AD203B41FA5}">
                      <a16:colId xmlns:a16="http://schemas.microsoft.com/office/drawing/2014/main" val="20001"/>
                    </a:ext>
                  </a:extLst>
                </a:gridCol>
                <a:gridCol w="4053198">
                  <a:extLst>
                    <a:ext uri="{9D8B030D-6E8A-4147-A177-3AD203B41FA5}">
                      <a16:colId xmlns:a16="http://schemas.microsoft.com/office/drawing/2014/main" val="20002"/>
                    </a:ext>
                  </a:extLst>
                </a:gridCol>
              </a:tblGrid>
              <a:tr h="4114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 Microservice Testbed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4 services run and communicate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2. Retry and Fault Injection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Retry storm reproduced on demand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3. Telemetry Pipeline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13,214 call records collected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4. Livelock Detection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8 windows detected, 0 false alarms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5. Graph Representation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Graph snapshots exported per window</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6. Prediction Model</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F1 0.55, verified against a control test</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7. Retry Controller</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Completed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Wasted work reduced by 28 percent</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Implementation Details</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9</a:t>
            </a:r>
            <a:endParaRPr lang="en-US" sz="1100" dirty="0"/>
          </a:p>
        </p:txBody>
      </p:sp>
      <p:sp>
        <p:nvSpPr>
          <p:cNvPr id="4" name="Text 2"/>
          <p:cNvSpPr txBox="1"/>
          <p:nvPr/>
        </p:nvSpPr>
        <p:spPr>
          <a:xfrm>
            <a:off x="548640" y="128016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Language and libraries</a:t>
            </a:r>
            <a:endParaRPr lang="en-US" sz="1600" dirty="0"/>
          </a:p>
        </p:txBody>
      </p:sp>
      <p:sp>
        <p:nvSpPr>
          <p:cNvPr id="5" name="Text 3"/>
          <p:cNvSpPr txBox="1"/>
          <p:nvPr/>
        </p:nvSpPr>
        <p:spPr>
          <a:xfrm>
            <a:off x="777240" y="1591056"/>
            <a:ext cx="10863072" cy="475488"/>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Python 3, Flask for the services, scikit-learn for the model, NetworkX for the graph.</a:t>
            </a:r>
            <a:endParaRPr lang="en-US" sz="1500" dirty="0"/>
          </a:p>
        </p:txBody>
      </p:sp>
      <p:sp>
        <p:nvSpPr>
          <p:cNvPr id="6" name="Text 4"/>
          <p:cNvSpPr txBox="1"/>
          <p:nvPr/>
        </p:nvSpPr>
        <p:spPr>
          <a:xfrm>
            <a:off x="548640" y="219456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Fault injection</a:t>
            </a:r>
            <a:endParaRPr lang="en-US" sz="1600" dirty="0"/>
          </a:p>
        </p:txBody>
      </p:sp>
      <p:sp>
        <p:nvSpPr>
          <p:cNvPr id="7" name="Text 5"/>
          <p:cNvSpPr txBox="1"/>
          <p:nvPr/>
        </p:nvSpPr>
        <p:spPr>
          <a:xfrm>
            <a:off x="777240" y="2505456"/>
            <a:ext cx="10863072" cy="475488"/>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Each service reads a small config file per request, so faults can be changed while the system runs.</a:t>
            </a:r>
            <a:endParaRPr lang="en-US" sz="1500" dirty="0"/>
          </a:p>
        </p:txBody>
      </p:sp>
      <p:sp>
        <p:nvSpPr>
          <p:cNvPr id="8" name="Text 6"/>
          <p:cNvSpPr txBox="1"/>
          <p:nvPr/>
        </p:nvSpPr>
        <p:spPr>
          <a:xfrm>
            <a:off x="548640" y="310896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Telemetry recorded for every call</a:t>
            </a:r>
            <a:endParaRPr lang="en-US" sz="1600" dirty="0"/>
          </a:p>
        </p:txBody>
      </p:sp>
      <p:sp>
        <p:nvSpPr>
          <p:cNvPr id="9" name="Text 7"/>
          <p:cNvSpPr txBox="1"/>
          <p:nvPr/>
        </p:nvSpPr>
        <p:spPr>
          <a:xfrm>
            <a:off x="777240" y="3419856"/>
            <a:ext cx="10863072" cy="475488"/>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Timestamp, source service, destination service, attempt number, backoff delay, response code, latency.</a:t>
            </a:r>
            <a:endParaRPr lang="en-US" sz="1500" dirty="0"/>
          </a:p>
        </p:txBody>
      </p:sp>
      <p:sp>
        <p:nvSpPr>
          <p:cNvPr id="10" name="Text 8"/>
          <p:cNvSpPr txBox="1"/>
          <p:nvPr/>
        </p:nvSpPr>
        <p:spPr>
          <a:xfrm>
            <a:off x="548640" y="4023360"/>
            <a:ext cx="11091672" cy="292608"/>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Two separate logs</a:t>
            </a:r>
            <a:endParaRPr lang="en-US" sz="1600" dirty="0"/>
          </a:p>
        </p:txBody>
      </p:sp>
      <p:sp>
        <p:nvSpPr>
          <p:cNvPr id="11" name="Text 9"/>
          <p:cNvSpPr txBox="1"/>
          <p:nvPr/>
        </p:nvSpPr>
        <p:spPr>
          <a:xfrm>
            <a:off x="777240" y="4334256"/>
            <a:ext cx="10863072" cy="475488"/>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One for internal call attempts (how hard the system is working) and one for user requests (what users actually got).</a:t>
            </a:r>
            <a:endParaRPr lang="en-US" sz="1500" dirty="0"/>
          </a:p>
        </p:txBody>
      </p:sp>
      <p:sp>
        <p:nvSpPr>
          <p:cNvPr id="12" name="Shape 10"/>
          <p:cNvSpPr/>
          <p:nvPr/>
        </p:nvSpPr>
        <p:spPr>
          <a:xfrm>
            <a:off x="548640" y="5120640"/>
            <a:ext cx="11091672" cy="640080"/>
          </a:xfrm>
          <a:prstGeom prst="rect">
            <a:avLst/>
          </a:prstGeom>
          <a:solidFill>
            <a:srgbClr val="F2F2F2"/>
          </a:solidFill>
          <a:ln w="12700">
            <a:solidFill>
              <a:srgbClr val="BFBFBF"/>
            </a:solidFill>
            <a:prstDash val="solid"/>
          </a:ln>
        </p:spPr>
        <p:txBody>
          <a:bodyPr/>
          <a:lstStyle/>
          <a:p>
            <a:endParaRPr/>
          </a:p>
        </p:txBody>
      </p:sp>
      <p:sp>
        <p:nvSpPr>
          <p:cNvPr id="13" name="Text 11"/>
          <p:cNvSpPr txBox="1"/>
          <p:nvPr/>
        </p:nvSpPr>
        <p:spPr>
          <a:xfrm>
            <a:off x="731520" y="5120640"/>
            <a:ext cx="10725912" cy="640080"/>
          </a:xfrm>
          <a:prstGeom prst="rect">
            <a:avLst/>
          </a:prstGeom>
          <a:noFill/>
          <a:ln/>
        </p:spPr>
        <p:txBody>
          <a:bodyPr wrap="square" lIns="0" tIns="0" rIns="0" bIns="0" rtlCol="0" anchor="ctr"/>
          <a:lstStyle/>
          <a:p>
            <a:pPr marL="0" indent="0">
              <a:buNone/>
            </a:pPr>
            <a:r>
              <a:rPr lang="en-US" sz="1500" i="1" dirty="0">
                <a:solidFill>
                  <a:srgbClr val="000000"/>
                </a:solidFill>
                <a:latin typeface="Calibri" pitchFamily="34" charset="0"/>
                <a:ea typeface="Calibri" pitchFamily="34" charset="-122"/>
                <a:cs typeface="Calibri" pitchFamily="34" charset="-120"/>
              </a:rPr>
              <a:t>The two separate logs are what allow livelock to be shown: high activity together with near-zero progress.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Livelock Detection Logic</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10</a:t>
            </a:r>
            <a:endParaRPr lang="en-US" sz="1100" dirty="0"/>
          </a:p>
        </p:txBody>
      </p:sp>
      <p:sp>
        <p:nvSpPr>
          <p:cNvPr id="4" name="Text 2"/>
          <p:cNvSpPr txBox="1"/>
          <p:nvPr/>
        </p:nvSpPr>
        <p:spPr>
          <a:xfrm>
            <a:off x="548640" y="1097280"/>
            <a:ext cx="11091672" cy="32004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A time window is labelled livelock only if all four conditions hold for two windows in a row.</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2057400"/>
        </p:xfrm>
        <a:graphic>
          <a:graphicData uri="http://schemas.openxmlformats.org/drawingml/2006/table">
            <a:tbl>
              <a:tblPr/>
              <a:tblGrid>
                <a:gridCol w="3931920">
                  <a:extLst>
                    <a:ext uri="{9D8B030D-6E8A-4147-A177-3AD203B41FA5}">
                      <a16:colId xmlns:a16="http://schemas.microsoft.com/office/drawing/2014/main" val="20000"/>
                    </a:ext>
                  </a:extLst>
                </a:gridCol>
                <a:gridCol w="7159752">
                  <a:extLst>
                    <a:ext uri="{9D8B030D-6E8A-4147-A177-3AD203B41FA5}">
                      <a16:colId xmlns:a16="http://schemas.microsoft.com/office/drawing/2014/main" val="20001"/>
                    </a:ext>
                  </a:extLst>
                </a:gridCol>
              </a:tblGrid>
              <a:tr h="4114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Condition</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Meaning</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 Retry amplification is high</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More retry calls than fresh calls on the edge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2. Useful throughput collapsed</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Edge delivers less than half its healthy rate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3. Concurrency is not draining</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Work in flight stays high instead of clearing</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4. Positive feedback is present</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Retries not falling while success rate is not improving</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48640" y="3794760"/>
            <a:ext cx="11091672" cy="365760"/>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Retry amplification:   rho  =  retry calls per second  /  fresh calls per second</a:t>
            </a:r>
            <a:endParaRPr lang="en-US" sz="1600" dirty="0"/>
          </a:p>
        </p:txBody>
      </p:sp>
      <p:sp>
        <p:nvSpPr>
          <p:cNvPr id="7" name="Text 4"/>
          <p:cNvSpPr txBox="1"/>
          <p:nvPr/>
        </p:nvSpPr>
        <p:spPr>
          <a:xfrm>
            <a:off x="548640" y="4251960"/>
            <a:ext cx="11091672" cy="14630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Healthy traffic gives rho near 0. During a storm we measured rho between 1.4 and 4.5.</a:t>
            </a:r>
            <a:endParaRPr lang="en-US" sz="1500" dirty="0"/>
          </a:p>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Condition 4 is what separates livelock from ordinary overload. An overloaded system that is recovering fails this condition.</a:t>
            </a:r>
            <a:endParaRPr lang="en-US" sz="1500" dirty="0"/>
          </a:p>
          <a:p>
            <a:pPr marL="342900" indent="-342900">
              <a:spcAft>
                <a:spcPts val="500"/>
              </a:spcAft>
              <a:buSzPct val="100000"/>
              <a:buChar char="•"/>
            </a:pPr>
            <a:r>
              <a:rPr lang="en-US" sz="1500" dirty="0">
                <a:solidFill>
                  <a:srgbClr val="000000"/>
                </a:solidFill>
                <a:latin typeface="Calibri" pitchFamily="34" charset="0"/>
                <a:ea typeface="Calibri" pitchFamily="34" charset="-122"/>
                <a:cs typeface="Calibri" pitchFamily="34" charset="-120"/>
              </a:rPr>
              <a:t>Requiring all four together is why we got zero false alarms on healthy traffic.</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Results and Analysis: Does Retrying Help?</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11</a:t>
            </a:r>
            <a:endParaRPr lang="en-US" sz="1100" dirty="0"/>
          </a:p>
        </p:txBody>
      </p:sp>
      <p:sp>
        <p:nvSpPr>
          <p:cNvPr id="4" name="Text 2"/>
          <p:cNvSpPr txBox="1"/>
          <p:nvPr/>
        </p:nvSpPr>
        <p:spPr>
          <a:xfrm>
            <a:off x="548640" y="1097280"/>
            <a:ext cx="11091672" cy="320040"/>
          </a:xfrm>
          <a:prstGeom prst="rect">
            <a:avLst/>
          </a:prstGeom>
          <a:noFill/>
          <a:ln/>
        </p:spPr>
        <p:txBody>
          <a:bodyPr wrap="square" lIns="0" tIns="0" rIns="0" bIns="0" rtlCol="0" anchor="ctr"/>
          <a:lstStyle/>
          <a:p>
            <a:pPr marL="0" indent="0">
              <a:buNone/>
            </a:pPr>
            <a:r>
              <a:rPr lang="en-US" sz="1500" dirty="0">
                <a:solidFill>
                  <a:srgbClr val="595959"/>
                </a:solidFill>
                <a:latin typeface="Calibri" pitchFamily="34" charset="0"/>
                <a:ea typeface="Calibri" pitchFamily="34" charset="-122"/>
                <a:cs typeface="Calibri" pitchFamily="34" charset="-120"/>
              </a:rPr>
              <a:t>The same fault was applied three times, changing only the retry policy.</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1645920"/>
        </p:xfrm>
        <a:graphic>
          <a:graphicData uri="http://schemas.openxmlformats.org/drawingml/2006/table">
            <a:tbl>
              <a:tblPr/>
              <a:tblGrid>
                <a:gridCol w="31089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4114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Retry policy</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Success (normal)</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Success (during fault)</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Calls made</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Avg latency</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No retries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88.5 %</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0.7 %</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1337 ms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Always retry (3 attempts)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100.0 %</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1.4 %</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1036</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3473 ms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11480">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Adaptive controller</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99.4 %</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1.7 %</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747</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Calibri" pitchFamily="34" charset="0"/>
                          <a:ea typeface="Calibri" pitchFamily="34" charset="-122"/>
                          <a:cs typeface="Calibri" pitchFamily="34" charset="-120"/>
                        </a:rPr>
                        <a:t>2353 ms</a:t>
                      </a:r>
                      <a:endParaRPr lang="en-US" sz="14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Text 3"/>
          <p:cNvSpPr txBox="1"/>
          <p:nvPr/>
        </p:nvSpPr>
        <p:spPr>
          <a:xfrm>
            <a:off x="548640" y="3520440"/>
            <a:ext cx="11091672"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Retrying during the fault gave no extra useful output, but more than doubled the work (475 to 1036 calls) and made users wait 2.6 times longer.</a:t>
            </a:r>
            <a:endParaRPr lang="en-US" sz="1500" dirty="0"/>
          </a:p>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Turning retries off is not a solution either. Without retries, normal traffic drops from 100 percent to 88.5 percent.</a:t>
            </a:r>
            <a:endParaRPr lang="en-US" sz="1500" dirty="0"/>
          </a:p>
          <a:p>
            <a:pPr marL="342900" indent="-3429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The adaptive controller keeps success at 99.4 percent when healthy and still cuts wasted work by about 28 percent when the system is struggling.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Results and Analysis: Detection and Prediction</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12</a:t>
            </a:r>
            <a:endParaRPr lang="en-US" sz="1100" dirty="0"/>
          </a:p>
        </p:txBody>
      </p:sp>
      <p:sp>
        <p:nvSpPr>
          <p:cNvPr id="4" name="Text 2"/>
          <p:cNvSpPr txBox="1"/>
          <p:nvPr/>
        </p:nvSpPr>
        <p:spPr>
          <a:xfrm>
            <a:off x="548640" y="1143000"/>
            <a:ext cx="5394960" cy="32004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Detection</a:t>
            </a:r>
            <a:endParaRPr lang="en-US" sz="1800" dirty="0"/>
          </a:p>
        </p:txBody>
      </p:sp>
      <p:sp>
        <p:nvSpPr>
          <p:cNvPr id="5" name="Text 3"/>
          <p:cNvSpPr txBox="1"/>
          <p:nvPr/>
        </p:nvSpPr>
        <p:spPr>
          <a:xfrm>
            <a:off x="548640" y="1554480"/>
            <a:ext cx="539496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6 test runs, 13,214 call records, 660 time windows analysed.</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8 windows labelled as livelock.</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5 in the sustained degraded period, 3 during the ramps into it.</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0 false alarms during healthy traffic.</a:t>
            </a:r>
            <a:endParaRPr lang="en-US" sz="1400" dirty="0"/>
          </a:p>
        </p:txBody>
      </p:sp>
      <p:sp>
        <p:nvSpPr>
          <p:cNvPr id="6" name="Text 4"/>
          <p:cNvSpPr txBox="1"/>
          <p:nvPr/>
        </p:nvSpPr>
        <p:spPr>
          <a:xfrm>
            <a:off x="6309360" y="1143000"/>
            <a:ext cx="5303520" cy="320040"/>
          </a:xfrm>
          <a:prstGeom prst="rect">
            <a:avLst/>
          </a:prstGeom>
          <a:noFill/>
          <a:ln/>
        </p:spPr>
        <p:txBody>
          <a:bodyPr wrap="square" lIns="0" tIns="0" rIns="0" bIns="0" rtlCol="0" anchor="ctr"/>
          <a:lstStyle/>
          <a:p>
            <a:pPr marL="0" indent="0">
              <a:buNone/>
            </a:pPr>
            <a:r>
              <a:rPr lang="en-US" sz="1800" b="1" dirty="0">
                <a:solidFill>
                  <a:srgbClr val="1F4E79"/>
                </a:solidFill>
                <a:latin typeface="Calibri" pitchFamily="34" charset="0"/>
                <a:ea typeface="Calibri" pitchFamily="34" charset="-122"/>
                <a:cs typeface="Calibri" pitchFamily="34" charset="-120"/>
              </a:rPr>
              <a:t>Prediction</a:t>
            </a:r>
            <a:endParaRPr lang="en-US" sz="1800" dirty="0"/>
          </a:p>
        </p:txBody>
      </p:sp>
      <p:sp>
        <p:nvSpPr>
          <p:cNvPr id="7" name="Text 5"/>
          <p:cNvSpPr txBox="1"/>
          <p:nvPr/>
        </p:nvSpPr>
        <p:spPr>
          <a:xfrm>
            <a:off x="6309360" y="1554480"/>
            <a:ext cx="5303520" cy="27432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Predicting livelock 4 to 12 seconds ahead:</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09360" y="1920240"/>
          <a:ext cx="5303520" cy="1097280"/>
        </p:xfrm>
        <a:graphic>
          <a:graphicData uri="http://schemas.openxmlformats.org/drawingml/2006/table">
            <a:tbl>
              <a:tblPr/>
              <a:tblGrid>
                <a:gridCol w="23774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65760">
                <a:tc>
                  <a:txBody>
                    <a:bodyPr/>
                    <a:lstStyle/>
                    <a:p>
                      <a:pPr marL="0" indent="0" algn="ctr">
                        <a:buNone/>
                      </a:pP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Precision</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6576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Our model</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0.38</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Shuffled labels (control)</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0.06</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9" name="Text 6"/>
          <p:cNvSpPr txBox="1"/>
          <p:nvPr/>
        </p:nvSpPr>
        <p:spPr>
          <a:xfrm>
            <a:off x="6309360" y="3291840"/>
            <a:ext cx="530352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The control test trains the same model on random labels. It scores at chance level (F1 0.12 against a chance level of 0.05), which shows our model is learning real signal and not leaking the answer.</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Recall 1.00 means no coming livelock was missed. Precision 0.38 means some warnings were false alarms.</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For an early warning system this trade is acceptable, because a missed storm costs far more than an unnecessary caution.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Output: Services Running and Telemetry Collected</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13</a:t>
            </a:r>
            <a:endParaRPr lang="en-US" sz="1100" dirty="0"/>
          </a:p>
        </p:txBody>
      </p:sp>
      <p:pic>
        <p:nvPicPr>
          <p:cNvPr id="4" name="Image 0" descr="img/01_services_running.png"/>
          <p:cNvPicPr>
            <a:picLocks noChangeAspect="1"/>
          </p:cNvPicPr>
          <p:nvPr/>
        </p:nvPicPr>
        <p:blipFill>
          <a:blip r:embed="rId3"/>
          <a:stretch>
            <a:fillRect/>
          </a:stretch>
        </p:blipFill>
        <p:spPr>
          <a:xfrm>
            <a:off x="640080" y="1188720"/>
            <a:ext cx="5212080" cy="2557699"/>
          </a:xfrm>
          <a:prstGeom prst="rect">
            <a:avLst/>
          </a:prstGeom>
        </p:spPr>
      </p:pic>
      <p:sp>
        <p:nvSpPr>
          <p:cNvPr id="5" name="Text 2"/>
          <p:cNvSpPr txBox="1"/>
          <p:nvPr/>
        </p:nvSpPr>
        <p:spPr>
          <a:xfrm>
            <a:off x="640080" y="3792139"/>
            <a:ext cx="521208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Four services start, each with its worker slot count</a:t>
            </a:r>
            <a:endParaRPr lang="en-US" sz="1100" dirty="0"/>
          </a:p>
        </p:txBody>
      </p:sp>
      <p:pic>
        <p:nvPicPr>
          <p:cNvPr id="6" name="Image 1" descr="img/03_analyze_run.png"/>
          <p:cNvPicPr>
            <a:picLocks noChangeAspect="1"/>
          </p:cNvPicPr>
          <p:nvPr/>
        </p:nvPicPr>
        <p:blipFill>
          <a:blip r:embed="rId4"/>
          <a:stretch>
            <a:fillRect/>
          </a:stretch>
        </p:blipFill>
        <p:spPr>
          <a:xfrm>
            <a:off x="640080" y="4114800"/>
            <a:ext cx="5212080" cy="1457354"/>
          </a:xfrm>
          <a:prstGeom prst="rect">
            <a:avLst/>
          </a:prstGeom>
        </p:spPr>
      </p:pic>
      <p:sp>
        <p:nvSpPr>
          <p:cNvPr id="7" name="Text 3"/>
          <p:cNvSpPr txBox="1"/>
          <p:nvPr/>
        </p:nvSpPr>
        <p:spPr>
          <a:xfrm>
            <a:off x="640080" y="5617874"/>
            <a:ext cx="521208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Per-phase summary of one gradual-degradation run</a:t>
            </a:r>
            <a:endParaRPr lang="en-US" sz="1100" dirty="0"/>
          </a:p>
        </p:txBody>
      </p:sp>
      <p:pic>
        <p:nvPicPr>
          <p:cNvPr id="8" name="Image 2" descr="img/02_telemetry_records.png"/>
          <p:cNvPicPr>
            <a:picLocks noChangeAspect="1"/>
          </p:cNvPicPr>
          <p:nvPr/>
        </p:nvPicPr>
        <p:blipFill>
          <a:blip r:embed="rId5"/>
          <a:stretch>
            <a:fillRect/>
          </a:stretch>
        </p:blipFill>
        <p:spPr>
          <a:xfrm>
            <a:off x="6400800" y="1188720"/>
            <a:ext cx="5120640" cy="4261518"/>
          </a:xfrm>
          <a:prstGeom prst="rect">
            <a:avLst/>
          </a:prstGeom>
        </p:spPr>
      </p:pic>
      <p:sp>
        <p:nvSpPr>
          <p:cNvPr id="9" name="Text 4"/>
          <p:cNvSpPr txBox="1"/>
          <p:nvPr/>
        </p:nvSpPr>
        <p:spPr>
          <a:xfrm>
            <a:off x="6400800" y="5495958"/>
            <a:ext cx="512064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Raw records showing retry attempts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Output: Livelock Detection</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14</a:t>
            </a:r>
            <a:endParaRPr lang="en-US" sz="1100" dirty="0"/>
          </a:p>
        </p:txBody>
      </p:sp>
      <p:pic>
        <p:nvPicPr>
          <p:cNvPr id="4" name="Image 0" descr="img/04_labeling.png"/>
          <p:cNvPicPr>
            <a:picLocks noChangeAspect="1"/>
          </p:cNvPicPr>
          <p:nvPr/>
        </p:nvPicPr>
        <p:blipFill>
          <a:blip r:embed="rId3"/>
          <a:stretch>
            <a:fillRect/>
          </a:stretch>
        </p:blipFill>
        <p:spPr>
          <a:xfrm>
            <a:off x="640080" y="1143000"/>
            <a:ext cx="10881360" cy="1981058"/>
          </a:xfrm>
          <a:prstGeom prst="rect">
            <a:avLst/>
          </a:prstGeom>
        </p:spPr>
      </p:pic>
      <p:pic>
        <p:nvPicPr>
          <p:cNvPr id="5" name="Image 1" descr="img/06_labeled_windows.png"/>
          <p:cNvPicPr>
            <a:picLocks noChangeAspect="1"/>
          </p:cNvPicPr>
          <p:nvPr/>
        </p:nvPicPr>
        <p:blipFill>
          <a:blip r:embed="rId4"/>
          <a:stretch>
            <a:fillRect/>
          </a:stretch>
        </p:blipFill>
        <p:spPr>
          <a:xfrm>
            <a:off x="640080" y="3200400"/>
            <a:ext cx="5120640" cy="2916913"/>
          </a:xfrm>
          <a:prstGeom prst="rect">
            <a:avLst/>
          </a:prstGeom>
        </p:spPr>
      </p:pic>
      <p:sp>
        <p:nvSpPr>
          <p:cNvPr id="6" name="Text 2"/>
          <p:cNvSpPr txBox="1"/>
          <p:nvPr/>
        </p:nvSpPr>
        <p:spPr>
          <a:xfrm>
            <a:off x="640080" y="6163033"/>
            <a:ext cx="512064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Conditions switching on one by one as the service degrades</a:t>
            </a:r>
            <a:endParaRPr lang="en-US" sz="1100" dirty="0"/>
          </a:p>
        </p:txBody>
      </p:sp>
      <p:pic>
        <p:nvPicPr>
          <p:cNvPr id="7" name="Image 2" descr="img/05_detection_check.png"/>
          <p:cNvPicPr>
            <a:picLocks noChangeAspect="1"/>
          </p:cNvPicPr>
          <p:nvPr/>
        </p:nvPicPr>
        <p:blipFill>
          <a:blip r:embed="rId5"/>
          <a:stretch>
            <a:fillRect/>
          </a:stretch>
        </p:blipFill>
        <p:spPr>
          <a:xfrm>
            <a:off x="6400800" y="3200400"/>
            <a:ext cx="3840480" cy="2797756"/>
          </a:xfrm>
          <a:prstGeom prst="rect">
            <a:avLst/>
          </a:prstGeom>
        </p:spPr>
      </p:pic>
      <p:sp>
        <p:nvSpPr>
          <p:cNvPr id="8" name="Text 3"/>
          <p:cNvSpPr txBox="1"/>
          <p:nvPr/>
        </p:nvSpPr>
        <p:spPr>
          <a:xfrm>
            <a:off x="6400800" y="6043876"/>
            <a:ext cx="384048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Checked against the injected fault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Output: Service Graph and Controller Action</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15</a:t>
            </a:r>
            <a:endParaRPr lang="en-US" sz="1100" dirty="0"/>
          </a:p>
        </p:txBody>
      </p:sp>
      <p:pic>
        <p:nvPicPr>
          <p:cNvPr id="4" name="Image 0" descr="img/10_service_graph.png"/>
          <p:cNvPicPr>
            <a:picLocks noChangeAspect="1"/>
          </p:cNvPicPr>
          <p:nvPr/>
        </p:nvPicPr>
        <p:blipFill>
          <a:blip r:embed="rId3"/>
          <a:stretch>
            <a:fillRect/>
          </a:stretch>
        </p:blipFill>
        <p:spPr>
          <a:xfrm>
            <a:off x="640080" y="1143000"/>
            <a:ext cx="5120640" cy="2560320"/>
          </a:xfrm>
          <a:prstGeom prst="rect">
            <a:avLst/>
          </a:prstGeom>
        </p:spPr>
      </p:pic>
      <p:sp>
        <p:nvSpPr>
          <p:cNvPr id="5" name="Text 2"/>
          <p:cNvSpPr txBox="1"/>
          <p:nvPr/>
        </p:nvSpPr>
        <p:spPr>
          <a:xfrm>
            <a:off x="640080" y="3749040"/>
            <a:ext cx="512064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Red edges are the ones flagged as livelock risk</a:t>
            </a:r>
            <a:endParaRPr lang="en-US" sz="1100" dirty="0"/>
          </a:p>
        </p:txBody>
      </p:sp>
      <p:pic>
        <p:nvPicPr>
          <p:cNvPr id="6" name="Image 1" descr="img/09_controller_decisions.png"/>
          <p:cNvPicPr>
            <a:picLocks noChangeAspect="1"/>
          </p:cNvPicPr>
          <p:nvPr/>
        </p:nvPicPr>
        <p:blipFill>
          <a:blip r:embed="rId4"/>
          <a:stretch>
            <a:fillRect/>
          </a:stretch>
        </p:blipFill>
        <p:spPr>
          <a:xfrm>
            <a:off x="640080" y="4114800"/>
            <a:ext cx="5120640" cy="2105267"/>
          </a:xfrm>
          <a:prstGeom prst="rect">
            <a:avLst/>
          </a:prstGeom>
        </p:spPr>
      </p:pic>
      <p:sp>
        <p:nvSpPr>
          <p:cNvPr id="7" name="Text 3"/>
          <p:cNvSpPr txBox="1"/>
          <p:nvPr/>
        </p:nvSpPr>
        <p:spPr>
          <a:xfrm>
            <a:off x="640080" y="6265787"/>
            <a:ext cx="5120640" cy="256032"/>
          </a:xfrm>
          <a:prstGeom prst="rect">
            <a:avLst/>
          </a:prstGeom>
          <a:noFill/>
          <a:ln/>
        </p:spPr>
        <p:txBody>
          <a:bodyPr wrap="square" lIns="0" tIns="0" rIns="0" bIns="0" rtlCol="0" anchor="ctr"/>
          <a:lstStyle/>
          <a:p>
            <a:pPr marL="0" indent="0" algn="l">
              <a:buNone/>
            </a:pPr>
            <a:r>
              <a:rPr lang="en-US" sz="1100" dirty="0">
                <a:solidFill>
                  <a:srgbClr val="595959"/>
                </a:solidFill>
                <a:latin typeface="Calibri" pitchFamily="34" charset="0"/>
                <a:ea typeface="Calibri" pitchFamily="34" charset="-122"/>
                <a:cs typeface="Calibri" pitchFamily="34" charset="-120"/>
              </a:rPr>
              <a:t>Retry budget cut as rho rises, restored as it falls</a:t>
            </a:r>
            <a:endParaRPr lang="en-US" sz="1100" dirty="0"/>
          </a:p>
        </p:txBody>
      </p:sp>
      <p:pic>
        <p:nvPicPr>
          <p:cNvPr id="8" name="Image 2" descr="img/07_experiment_three_arms.png"/>
          <p:cNvPicPr>
            <a:picLocks noChangeAspect="1"/>
          </p:cNvPicPr>
          <p:nvPr/>
        </p:nvPicPr>
        <p:blipFill>
          <a:blip r:embed="rId5"/>
          <a:stretch>
            <a:fillRect/>
          </a:stretch>
        </p:blipFill>
        <p:spPr>
          <a:xfrm>
            <a:off x="6309360" y="1143000"/>
            <a:ext cx="4754880" cy="49298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Output: Prediction Results</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16</a:t>
            </a:r>
            <a:endParaRPr lang="en-US" sz="1100" dirty="0"/>
          </a:p>
        </p:txBody>
      </p:sp>
      <p:pic>
        <p:nvPicPr>
          <p:cNvPr id="4" name="Image 0" descr="img/08_prediction_model.png"/>
          <p:cNvPicPr>
            <a:picLocks noChangeAspect="1"/>
          </p:cNvPicPr>
          <p:nvPr/>
        </p:nvPicPr>
        <p:blipFill>
          <a:blip r:embed="rId3"/>
          <a:stretch>
            <a:fillRect/>
          </a:stretch>
        </p:blipFill>
        <p:spPr>
          <a:xfrm>
            <a:off x="3200400" y="1097280"/>
            <a:ext cx="5852160" cy="4714921"/>
          </a:xfrm>
          <a:prstGeom prst="rect">
            <a:avLst/>
          </a:prstGeom>
        </p:spPr>
      </p:pic>
      <p:sp>
        <p:nvSpPr>
          <p:cNvPr id="5" name="Text 2"/>
          <p:cNvSpPr txBox="1"/>
          <p:nvPr/>
        </p:nvSpPr>
        <p:spPr>
          <a:xfrm>
            <a:off x="640080" y="6035040"/>
            <a:ext cx="11091672" cy="365760"/>
          </a:xfrm>
          <a:prstGeom prst="rect">
            <a:avLst/>
          </a:prstGeom>
          <a:noFill/>
          <a:ln/>
        </p:spPr>
        <p:txBody>
          <a:bodyPr wrap="square" lIns="0" tIns="0" rIns="0" bIns="0"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Recall 1.00 means no coming livelock was missed. The shuffled-label control scoring 0.00 is the evidence that the real result is not leakage.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35508" y="3581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Future Work</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17</a:t>
            </a:r>
            <a:endParaRPr lang="en-US" sz="1100" dirty="0"/>
          </a:p>
        </p:txBody>
      </p:sp>
      <p:sp>
        <p:nvSpPr>
          <p:cNvPr id="7" name="Text 5"/>
          <p:cNvSpPr txBox="1"/>
          <p:nvPr/>
        </p:nvSpPr>
        <p:spPr>
          <a:xfrm>
            <a:off x="1036320" y="1356360"/>
            <a:ext cx="5303520" cy="3931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Implement the TGN-Edge model now that the prediction task is shown to be learnable.</a:t>
            </a:r>
            <a:endParaRPr lang="en-US" sz="1600" dirty="0"/>
          </a:p>
          <a:p>
            <a:pPr marL="342900" indent="-3429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Calibrate thresholds using a public production trace such as the Alibaba microservice dataset.</a:t>
            </a:r>
            <a:endParaRPr lang="en-US" sz="1600" dirty="0"/>
          </a:p>
          <a:p>
            <a:pPr marL="342900" indent="-3429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Add the remaining two controller stability mechanisms.</a:t>
            </a:r>
            <a:endParaRPr lang="en-US" sz="1600" dirty="0"/>
          </a:p>
          <a:p>
            <a:pPr marL="342900" indent="-342900">
              <a:spcAft>
                <a:spcPts val="800"/>
              </a:spcAft>
              <a:buSzPct val="100000"/>
              <a:buChar char="•"/>
            </a:pPr>
            <a:r>
              <a:rPr lang="en-US" sz="1600" dirty="0">
                <a:solidFill>
                  <a:srgbClr val="000000"/>
                </a:solidFill>
                <a:latin typeface="Calibri" pitchFamily="34" charset="0"/>
                <a:ea typeface="Calibri" pitchFamily="34" charset="-122"/>
                <a:cs typeface="Calibri" pitchFamily="34" charset="-120"/>
              </a:rPr>
              <a:t>Extend to a deeper call chain, since retry amplification compounds with every additional layer.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594360"/>
          </a:xfrm>
          <a:prstGeom prst="rect">
            <a:avLst/>
          </a:prstGeom>
          <a:noFill/>
          <a:ln/>
        </p:spPr>
        <p:txBody>
          <a:bodyPr wrap="square" lIns="0" tIns="0" rIns="0" bIns="0" rtlCol="0" anchor="ctr"/>
          <a:lstStyle/>
          <a:p>
            <a:pPr marL="0" indent="0" algn="l">
              <a:buNone/>
            </a:pPr>
            <a:r>
              <a:rPr lang="en-US" sz="2800" b="1" dirty="0">
                <a:solidFill>
                  <a:srgbClr val="1F4E79"/>
                </a:solidFill>
                <a:latin typeface="Calibri" pitchFamily="34" charset="0"/>
                <a:ea typeface="Calibri" pitchFamily="34" charset="-122"/>
                <a:cs typeface="Calibri" pitchFamily="34" charset="-120"/>
              </a:rPr>
              <a:t>Conclusion</a:t>
            </a:r>
            <a:endParaRPr lang="en-US" sz="2800" dirty="0"/>
          </a:p>
        </p:txBody>
      </p:sp>
      <p:sp>
        <p:nvSpPr>
          <p:cNvPr id="3" name="Text 1"/>
          <p:cNvSpPr txBox="1"/>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595959"/>
                </a:solidFill>
                <a:latin typeface="Calibri" pitchFamily="34" charset="0"/>
                <a:ea typeface="Calibri" pitchFamily="34" charset="-122"/>
                <a:cs typeface="Calibri" pitchFamily="34" charset="-120"/>
              </a:rPr>
              <a:t>18</a:t>
            </a:r>
            <a:endParaRPr lang="en-US" sz="1100" dirty="0"/>
          </a:p>
        </p:txBody>
      </p:sp>
      <p:sp>
        <p:nvSpPr>
          <p:cNvPr id="4" name="Text 2"/>
          <p:cNvSpPr txBox="1"/>
          <p:nvPr/>
        </p:nvSpPr>
        <p:spPr>
          <a:xfrm>
            <a:off x="548640" y="1280160"/>
            <a:ext cx="11091672" cy="29260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000000"/>
                </a:solidFill>
                <a:latin typeface="Calibri" pitchFamily="34" charset="0"/>
                <a:ea typeface="Calibri" pitchFamily="34" charset="-122"/>
                <a:cs typeface="Calibri" pitchFamily="34" charset="-120"/>
              </a:rPr>
              <a:t>A working microservice testbed was built in which a retry storm can be triggered and measured.</a:t>
            </a:r>
            <a:endParaRPr lang="en-US" sz="1600" dirty="0"/>
          </a:p>
          <a:p>
            <a:pPr marL="342900" indent="-342900">
              <a:spcAft>
                <a:spcPts val="1200"/>
              </a:spcAft>
              <a:buSzPct val="100000"/>
              <a:buChar char="•"/>
            </a:pPr>
            <a:r>
              <a:rPr lang="en-US" sz="1600" dirty="0">
                <a:solidFill>
                  <a:srgbClr val="000000"/>
                </a:solidFill>
                <a:latin typeface="Calibri" pitchFamily="34" charset="0"/>
                <a:ea typeface="Calibri" pitchFamily="34" charset="-122"/>
                <a:cs typeface="Calibri" pitchFamily="34" charset="-120"/>
              </a:rPr>
              <a:t>Livelock detection was implemented directly from the four formal conditions, and produced no false alarms on healthy traffic.</a:t>
            </a:r>
            <a:endParaRPr lang="en-US" sz="1600" dirty="0"/>
          </a:p>
          <a:p>
            <a:pPr marL="342900" indent="-342900">
              <a:spcAft>
                <a:spcPts val="1200"/>
              </a:spcAft>
              <a:buSzPct val="100000"/>
              <a:buChar char="•"/>
            </a:pPr>
            <a:r>
              <a:rPr lang="en-US" sz="1600" dirty="0">
                <a:solidFill>
                  <a:srgbClr val="000000"/>
                </a:solidFill>
                <a:latin typeface="Calibri" pitchFamily="34" charset="0"/>
                <a:ea typeface="Calibri" pitchFamily="34" charset="-122"/>
                <a:cs typeface="Calibri" pitchFamily="34" charset="-120"/>
              </a:rPr>
              <a:t>Livelock can be predicted a few seconds in advance, and this was verified against a control test rather than assumed.</a:t>
            </a:r>
            <a:endParaRPr lang="en-US" sz="1600" dirty="0"/>
          </a:p>
          <a:p>
            <a:pPr marL="342900" indent="-342900">
              <a:spcAft>
                <a:spcPts val="1200"/>
              </a:spcAft>
              <a:buSzPct val="100000"/>
              <a:buChar char="•"/>
            </a:pPr>
            <a:r>
              <a:rPr lang="en-US" sz="1600" dirty="0">
                <a:solidFill>
                  <a:srgbClr val="000000"/>
                </a:solidFill>
                <a:latin typeface="Calibri" pitchFamily="34" charset="0"/>
                <a:ea typeface="Calibri" pitchFamily="34" charset="-122"/>
                <a:cs typeface="Calibri" pitchFamily="34" charset="-120"/>
              </a:rPr>
              <a:t>An adaptive retry controller reduced wasted work by about 28 percent without losing the benefit of retries in normal conditions.</a:t>
            </a:r>
            <a:endParaRPr lang="en-US" sz="1600" dirty="0"/>
          </a:p>
          <a:p>
            <a:pPr marL="342900" indent="-342900">
              <a:spcAft>
                <a:spcPts val="1200"/>
              </a:spcAft>
              <a:buSzPct val="100000"/>
              <a:buChar char="•"/>
            </a:pPr>
            <a:r>
              <a:rPr lang="en-US" sz="1600" dirty="0">
                <a:solidFill>
                  <a:srgbClr val="000000"/>
                </a:solidFill>
                <a:latin typeface="Calibri" pitchFamily="34" charset="0"/>
                <a:ea typeface="Calibri" pitchFamily="34" charset="-122"/>
                <a:cs typeface="Calibri" pitchFamily="34" charset="-120"/>
              </a:rPr>
              <a:t>All seven identified modules are implemented and can be demonstrated live.</a:t>
            </a:r>
            <a:endParaRPr lang="en-US" sz="1600" dirty="0"/>
          </a:p>
        </p:txBody>
      </p:sp>
      <p:sp>
        <p:nvSpPr>
          <p:cNvPr id="5" name="Shape 3"/>
          <p:cNvSpPr/>
          <p:nvPr/>
        </p:nvSpPr>
        <p:spPr>
          <a:xfrm>
            <a:off x="548640" y="4434840"/>
            <a:ext cx="11091672" cy="1005840"/>
          </a:xfrm>
          <a:prstGeom prst="rect">
            <a:avLst/>
          </a:prstGeom>
          <a:solidFill>
            <a:srgbClr val="DEEAF6"/>
          </a:solidFill>
          <a:ln w="12700">
            <a:solidFill>
              <a:srgbClr val="2E74B5"/>
            </a:solidFill>
            <a:prstDash val="solid"/>
          </a:ln>
        </p:spPr>
        <p:txBody>
          <a:bodyPr/>
          <a:lstStyle/>
          <a:p>
            <a:endParaRPr/>
          </a:p>
        </p:txBody>
      </p:sp>
      <p:sp>
        <p:nvSpPr>
          <p:cNvPr id="6" name="Text 4"/>
          <p:cNvSpPr txBox="1"/>
          <p:nvPr/>
        </p:nvSpPr>
        <p:spPr>
          <a:xfrm>
            <a:off x="731520" y="4434840"/>
            <a:ext cx="10725912" cy="1005840"/>
          </a:xfrm>
          <a:prstGeom prst="rect">
            <a:avLst/>
          </a:prstGeom>
          <a:noFill/>
          <a:ln/>
        </p:spPr>
        <p:txBody>
          <a:bodyPr wrap="square" lIns="0" tIns="0" rIns="0" bIns="0" rtlCol="0" anchor="ctr"/>
          <a:lstStyle/>
          <a:p>
            <a:pPr marL="0" indent="0" algn="l">
              <a:buNone/>
            </a:pPr>
            <a:r>
              <a:rPr lang="en-US" sz="1600" b="1" dirty="0">
                <a:solidFill>
                  <a:srgbClr val="000000"/>
                </a:solidFill>
                <a:latin typeface="Calibri" pitchFamily="34" charset="0"/>
                <a:ea typeface="Calibri" pitchFamily="34" charset="-122"/>
                <a:cs typeface="Calibri" pitchFamily="34" charset="-120"/>
              </a:rPr>
              <a:t>Main finding: retries are helpful for short-lived faults and harmful during saturation. A fixed retry policy cannot be correct in both situations, which is why the control has to adapt at runtime.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38200" y="2606040"/>
            <a:ext cx="10515600" cy="822960"/>
          </a:xfrm>
          <a:prstGeom prst="rect">
            <a:avLst/>
          </a:prstGeom>
          <a:noFill/>
          <a:ln/>
        </p:spPr>
        <p:txBody>
          <a:bodyPr wrap="square" lIns="0" tIns="0" rIns="0" bIns="0" rtlCol="0" anchor="ctr"/>
          <a:lstStyle/>
          <a:p>
            <a:pPr marL="0" indent="0" algn="ctr">
              <a:buNone/>
            </a:pPr>
            <a:r>
              <a:rPr lang="en-US" sz="4000" b="1" dirty="0">
                <a:solidFill>
                  <a:srgbClr val="1F4E79"/>
                </a:solidFill>
                <a:latin typeface="Calibri" pitchFamily="34" charset="0"/>
                <a:ea typeface="Calibri" pitchFamily="34" charset="-122"/>
                <a:cs typeface="Calibri"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TotalTime>
  <Words>2775</Words>
  <Application>Microsoft Office PowerPoint</Application>
  <PresentationFormat>Widescreen</PresentationFormat>
  <Paragraphs>312</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Retry-Storm Livelock - Review 2</dc:title>
  <dc:subject>PptxGenJS Presentation</dc:subject>
  <dc:creator>Varun G A, Satwik Som</dc:creator>
  <cp:lastModifiedBy>Varun G A</cp:lastModifiedBy>
  <cp:revision>5</cp:revision>
  <dcterms:created xsi:type="dcterms:W3CDTF">2026-09-22T20:30:28Z</dcterms:created>
  <dcterms:modified xsi:type="dcterms:W3CDTF">2026-09-23T19:16:29Z</dcterms:modified>
</cp:coreProperties>
</file>